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506" r:id="rId2"/>
    <p:sldId id="507" r:id="rId3"/>
    <p:sldId id="546" r:id="rId4"/>
    <p:sldId id="525" r:id="rId5"/>
    <p:sldId id="540" r:id="rId6"/>
    <p:sldId id="523" r:id="rId7"/>
    <p:sldId id="527" r:id="rId8"/>
    <p:sldId id="529" r:id="rId9"/>
    <p:sldId id="541" r:id="rId10"/>
    <p:sldId id="542" r:id="rId11"/>
    <p:sldId id="543" r:id="rId12"/>
    <p:sldId id="531" r:id="rId13"/>
    <p:sldId id="530" r:id="rId14"/>
    <p:sldId id="528" r:id="rId15"/>
    <p:sldId id="526" r:id="rId16"/>
    <p:sldId id="544" r:id="rId17"/>
    <p:sldId id="545" r:id="rId18"/>
    <p:sldId id="547" r:id="rId19"/>
    <p:sldId id="548" r:id="rId20"/>
    <p:sldId id="511" r:id="rId21"/>
    <p:sldId id="512" r:id="rId22"/>
    <p:sldId id="514" r:id="rId23"/>
    <p:sldId id="515" r:id="rId24"/>
    <p:sldId id="516" r:id="rId25"/>
    <p:sldId id="549" r:id="rId26"/>
    <p:sldId id="517" r:id="rId27"/>
    <p:sldId id="518" r:id="rId28"/>
    <p:sldId id="508" r:id="rId29"/>
    <p:sldId id="509" r:id="rId30"/>
    <p:sldId id="510" r:id="rId31"/>
    <p:sldId id="519" r:id="rId32"/>
    <p:sldId id="520" r:id="rId33"/>
    <p:sldId id="444" r:id="rId34"/>
  </p:sldIdLst>
  <p:sldSz cx="9144000" cy="6858000" type="screen4x3"/>
  <p:notesSz cx="6858000" cy="9144000"/>
  <p:defaultTextStyle>
    <a:defPPr>
      <a:defRPr lang="es-ES_tradnl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E78"/>
    <a:srgbClr val="020888"/>
    <a:srgbClr val="0D0D77"/>
    <a:srgbClr val="1E7FEC"/>
    <a:srgbClr val="1E5EEC"/>
    <a:srgbClr val="0000CC"/>
    <a:srgbClr val="D0D5DD"/>
    <a:srgbClr val="728697"/>
    <a:srgbClr val="E6DEFF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82" autoAdjust="0"/>
    <p:restoredTop sz="82206" autoAdjust="0"/>
  </p:normalViewPr>
  <p:slideViewPr>
    <p:cSldViewPr snapToGrid="0">
      <p:cViewPr varScale="1">
        <p:scale>
          <a:sx n="82" d="100"/>
          <a:sy n="82" d="100"/>
        </p:scale>
        <p:origin x="135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4" d="100"/>
        <a:sy n="94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-2814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0E0E7C3D-FC59-B640-B408-AAF6CEA43E96}" type="datetime1">
              <a:rPr lang="es-ES_tradnl"/>
              <a:pPr>
                <a:defRPr/>
              </a:pPr>
              <a:t>09/09/2026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DBE5C1F7-3DDD-5149-8260-B7F5ACB7455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851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01B17246-1E2D-4E4F-A780-3F09FA8E7A69}" type="datetime1">
              <a:rPr lang="es-ES_tradnl"/>
              <a:pPr>
                <a:defRPr/>
              </a:pPr>
              <a:t>09/09/2026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  <a:endParaRPr lang="en-U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5014B45B-50C8-4B4B-8677-532D2199778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938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ＭＳ Ｐゴシック" pitchFamily="-65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4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0D0D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defTabSz="914400">
              <a:defRPr/>
            </a:pPr>
            <a:endParaRPr lang="en-US" altLang="en-US">
              <a:cs typeface="+mn-cs"/>
            </a:endParaRPr>
          </a:p>
        </p:txBody>
      </p:sp>
      <p:sp>
        <p:nvSpPr>
          <p:cNvPr id="20497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5800" y="558801"/>
            <a:ext cx="7772400" cy="1968499"/>
          </a:xfrm>
        </p:spPr>
        <p:txBody>
          <a:bodyPr/>
          <a:lstStyle>
            <a:lvl1pPr>
              <a:defRPr sz="4000" b="1" smtClean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20498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21000"/>
            <a:ext cx="6400800" cy="19939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mtClean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subtítulo del patrón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9648" y="5441950"/>
            <a:ext cx="2844704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677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4"/>
          <p:cNvSpPr>
            <a:spLocks noChangeArrowheads="1"/>
          </p:cNvSpPr>
          <p:nvPr/>
        </p:nvSpPr>
        <p:spPr bwMode="auto">
          <a:xfrm>
            <a:off x="2844704" y="0"/>
            <a:ext cx="6299296" cy="914400"/>
          </a:xfrm>
          <a:prstGeom prst="rect">
            <a:avLst/>
          </a:prstGeom>
          <a:solidFill>
            <a:srgbClr val="0D0D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defTabSz="914400">
              <a:defRPr/>
            </a:pPr>
            <a:endParaRPr lang="en-US" altLang="en-US">
              <a:cs typeface="+mn-cs"/>
            </a:endParaRPr>
          </a:p>
        </p:txBody>
      </p:sp>
      <p:sp>
        <p:nvSpPr>
          <p:cNvPr id="20497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5800" y="1498601"/>
            <a:ext cx="7772400" cy="1968499"/>
          </a:xfrm>
        </p:spPr>
        <p:txBody>
          <a:bodyPr/>
          <a:lstStyle>
            <a:lvl1pPr>
              <a:defRPr sz="4000" b="1" smtClean="0">
                <a:solidFill>
                  <a:srgbClr val="000E78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20498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60800"/>
            <a:ext cx="6400800" cy="19939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mtClean="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para modificar el estilo de subtítulo del patrón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844704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193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>
          <a:xfrm>
            <a:off x="184150" y="977900"/>
            <a:ext cx="8775700" cy="5232400"/>
          </a:xfrm>
        </p:spPr>
        <p:txBody>
          <a:bodyPr/>
          <a:lstStyle>
            <a:lvl1pPr marL="271463" marR="0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E78"/>
              </a:buClr>
              <a:buSzTx/>
              <a:buFont typeface="Wingdings" panose="05000000000000000000" pitchFamily="2" charset="2"/>
              <a:buChar char="§"/>
              <a:tabLst/>
              <a:defRPr>
                <a:solidFill>
                  <a:schemeClr val="tx1"/>
                </a:solidFill>
              </a:defRPr>
            </a:lvl1pPr>
            <a:lvl2pPr marL="541338" marR="0" indent="-2698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E78"/>
              </a:buClr>
              <a:buSzPct val="100000"/>
              <a:buFont typeface="Arial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804863" marR="0" indent="-2635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E78"/>
              </a:buClr>
              <a:buSzTx/>
              <a:buFont typeface="Wingdings" panose="05000000000000000000" pitchFamily="2" charset="2"/>
              <a:buChar char="Ø"/>
              <a:tabLst/>
              <a:defRPr>
                <a:solidFill>
                  <a:schemeClr val="tx1"/>
                </a:solidFill>
              </a:defRPr>
            </a:lvl3pPr>
            <a:lvl4pPr marL="1074738" marR="0" indent="-2698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prstClr val="black"/>
              </a:buClr>
              <a:buSzPct val="100000"/>
              <a:buFont typeface="Wingdings" charset="0"/>
              <a:buChar char="Ø"/>
              <a:tabLst/>
              <a:defRPr>
                <a:solidFill>
                  <a:schemeClr val="tx1"/>
                </a:solidFill>
              </a:defRPr>
            </a:lvl4pPr>
            <a:lvl5pPr marL="1346200" marR="0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prstClr val="black"/>
              </a:buClr>
              <a:buSzTx/>
              <a:buFont typeface="Wingdings" charset="0"/>
              <a:buChar char="v"/>
              <a:tabLst/>
              <a:defRPr>
                <a:solidFill>
                  <a:schemeClr val="tx1"/>
                </a:solidFill>
              </a:defRPr>
            </a:lvl5pPr>
          </a:lstStyle>
          <a:p>
            <a:pPr marL="271463" marR="0" lvl="0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E78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itchFamily="35" charset="-128"/>
                <a:cs typeface="Times New Roman" panose="02020603050405020304" pitchFamily="18" charset="0"/>
              </a:rPr>
              <a:t>Haga clic para modificar el estilo de texto del patrón</a:t>
            </a:r>
          </a:p>
          <a:p>
            <a:pPr marL="541338" marR="0" lvl="1" indent="-2698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E78"/>
              </a:buClr>
              <a:buSzPct val="100000"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itchFamily="35" charset="-128"/>
                <a:cs typeface="Times New Roman" panose="02020603050405020304" pitchFamily="18" charset="0"/>
              </a:rPr>
              <a:t>Segundo nivel</a:t>
            </a:r>
          </a:p>
          <a:p>
            <a:pPr marL="804863" marR="0" lvl="2" indent="-2635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E78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itchFamily="35" charset="-128"/>
                <a:cs typeface="Times New Roman" panose="02020603050405020304" pitchFamily="18" charset="0"/>
              </a:rPr>
              <a:t>Tercer nivel</a:t>
            </a:r>
          </a:p>
          <a:p>
            <a:pPr marL="1074738" marR="0" lvl="3" indent="-2698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prstClr val="black"/>
              </a:buClr>
              <a:buSzPct val="100000"/>
              <a:buFont typeface="Wingdings" charset="0"/>
              <a:buChar char="Ø"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E78"/>
                </a:solidFill>
                <a:effectLst/>
                <a:uLnTx/>
                <a:uFillTx/>
                <a:latin typeface="+mn-lt"/>
                <a:ea typeface="ＭＳ Ｐゴシック" pitchFamily="35" charset="-128"/>
                <a:cs typeface="Times New Roman" panose="02020603050405020304" pitchFamily="18" charset="0"/>
              </a:rPr>
              <a:t>Cuarto nivel</a:t>
            </a:r>
          </a:p>
          <a:p>
            <a:pPr marL="1346200" marR="0" lvl="4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prstClr val="black"/>
              </a:buClr>
              <a:buSzTx/>
              <a:buFont typeface="Wingdings" charset="0"/>
              <a:buChar char="v"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E78"/>
                </a:solidFill>
                <a:effectLst/>
                <a:uLnTx/>
                <a:uFillTx/>
                <a:latin typeface="+mn-lt"/>
                <a:ea typeface="ＭＳ Ｐゴシック" pitchFamily="35" charset="-128"/>
                <a:cs typeface="Times New Roman" panose="02020603050405020304" pitchFamily="18" charset="0"/>
              </a:rPr>
              <a:t>Quinto nivel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E78"/>
              </a:solidFill>
              <a:effectLst/>
              <a:uLnTx/>
              <a:uFillTx/>
              <a:latin typeface="+mn-lt"/>
              <a:ea typeface="ＭＳ Ｐゴシック" pitchFamily="35" charset="-128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490671" y="6421351"/>
            <a:ext cx="469179" cy="365125"/>
          </a:xfrm>
        </p:spPr>
        <p:txBody>
          <a:bodyPr/>
          <a:lstStyle/>
          <a:p>
            <a:fld id="{6A50E5A4-1032-4786-A9BB-359A429A9129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7" name="Footer Placeholder 1"/>
          <p:cNvSpPr txBox="1">
            <a:spLocks/>
          </p:cNvSpPr>
          <p:nvPr userDrawn="1"/>
        </p:nvSpPr>
        <p:spPr>
          <a:xfrm>
            <a:off x="3028950" y="6421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_tradnl"/>
            </a:defPPr>
            <a:lvl1pPr algn="ct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E78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dirty="0"/>
              <a:t>Lab Session 2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06601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 txBox="1">
            <a:spLocks/>
          </p:cNvSpPr>
          <p:nvPr userDrawn="1"/>
        </p:nvSpPr>
        <p:spPr>
          <a:xfrm>
            <a:off x="3028950" y="6421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_tradnl"/>
            </a:defPPr>
            <a:lvl1pPr algn="ct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E78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/>
              <a:t>Subtitle (change in master view)</a:t>
            </a:r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490671" y="6421351"/>
            <a:ext cx="469179" cy="365125"/>
          </a:xfrm>
        </p:spPr>
        <p:txBody>
          <a:bodyPr/>
          <a:lstStyle/>
          <a:p>
            <a:fld id="{6A50E5A4-1032-4786-A9BB-359A429A9129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1974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0" y="0"/>
            <a:ext cx="9143999" cy="6858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6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305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ángulo 3"/>
          <p:cNvSpPr>
            <a:spLocks noChangeArrowheads="1"/>
          </p:cNvSpPr>
          <p:nvPr/>
        </p:nvSpPr>
        <p:spPr bwMode="auto">
          <a:xfrm>
            <a:off x="1" y="0"/>
            <a:ext cx="9144000" cy="900000"/>
          </a:xfrm>
          <a:prstGeom prst="rect">
            <a:avLst/>
          </a:prstGeom>
          <a:solidFill>
            <a:srgbClr val="000E78"/>
          </a:solidFill>
          <a:ln>
            <a:noFill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defTabSz="914400">
              <a:defRPr/>
            </a:pPr>
            <a:endParaRPr lang="es-ES" altLang="en-US">
              <a:cs typeface="+mn-cs"/>
            </a:endParaRPr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68300" y="118533"/>
            <a:ext cx="8407400" cy="626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para </a:t>
            </a:r>
            <a:r>
              <a:rPr lang="en-US" dirty="0" err="1"/>
              <a:t>cambiar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título</a:t>
            </a:r>
            <a:endParaRPr lang="en-US" dirty="0"/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95964"/>
            <a:ext cx="8686800" cy="5233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para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</p:txBody>
      </p:sp>
      <p:cxnSp>
        <p:nvCxnSpPr>
          <p:cNvPr id="4" name="3 Conector recto"/>
          <p:cNvCxnSpPr>
            <a:cxnSpLocks/>
          </p:cNvCxnSpPr>
          <p:nvPr userDrawn="1"/>
        </p:nvCxnSpPr>
        <p:spPr bwMode="auto">
          <a:xfrm>
            <a:off x="0" y="6325387"/>
            <a:ext cx="9144001" cy="0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rgbClr val="000E7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45269" y="6378834"/>
            <a:ext cx="1268177" cy="40764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506047" y="6421351"/>
            <a:ext cx="4691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0E78"/>
                </a:solidFill>
              </a:defRPr>
            </a:lvl1pPr>
          </a:lstStyle>
          <a:p>
            <a:fld id="{6A50E5A4-1032-4786-A9BB-359A429A9129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3028950" y="6421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0E78"/>
                </a:solidFill>
              </a:defRPr>
            </a:lvl1pPr>
          </a:lstStyle>
          <a:p>
            <a:r>
              <a:rPr lang="en-US"/>
              <a:t>UC3M – AERO – EP2</a:t>
            </a:r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56" r:id="rId2"/>
    <p:sldLayoutId id="2147483757" r:id="rId3"/>
    <p:sldLayoutId id="2147483766" r:id="rId4"/>
    <p:sldLayoutId id="2147483768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charset="0"/>
          <a:ea typeface="ＭＳ Ｐゴシック" pitchFamily="35" charset="-128"/>
          <a:cs typeface="United Serif Reg Black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charset="0"/>
          <a:ea typeface="ＭＳ Ｐゴシック" pitchFamily="35" charset="-128"/>
          <a:cs typeface="United Serif Reg Black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charset="0"/>
          <a:ea typeface="ＭＳ Ｐゴシック" pitchFamily="35" charset="-128"/>
          <a:cs typeface="United Serif Reg Black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charset="0"/>
          <a:ea typeface="ＭＳ Ｐゴシック" pitchFamily="35" charset="-128"/>
          <a:cs typeface="United Serif Reg Black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rgbClr val="000E78"/>
        </a:buClr>
        <a:buFont typeface="Wingdings" panose="05000000000000000000" pitchFamily="2" charset="2"/>
        <a:buChar char="§"/>
        <a:defRPr sz="2200">
          <a:solidFill>
            <a:srgbClr val="000000"/>
          </a:solidFill>
          <a:latin typeface="+mn-lt"/>
          <a:ea typeface="ＭＳ Ｐゴシック" pitchFamily="35" charset="-128"/>
          <a:cs typeface="Times New Roman" panose="02020603050405020304" pitchFamily="18" charset="0"/>
        </a:defRPr>
      </a:lvl1pPr>
      <a:lvl2pPr marL="541338" indent="-269875" algn="l" rtl="0" eaLnBrk="0" fontAlgn="base" hangingPunct="0">
        <a:spcBef>
          <a:spcPct val="20000"/>
        </a:spcBef>
        <a:spcAft>
          <a:spcPct val="0"/>
        </a:spcAft>
        <a:buClr>
          <a:srgbClr val="000E78"/>
        </a:buClr>
        <a:buSzPct val="100000"/>
        <a:buFont typeface="Arial" charset="0"/>
        <a:buChar char="•"/>
        <a:defRPr sz="2200">
          <a:solidFill>
            <a:schemeClr val="tx1"/>
          </a:solidFill>
          <a:latin typeface="+mn-lt"/>
          <a:ea typeface="ＭＳ Ｐゴシック" pitchFamily="35" charset="-128"/>
          <a:cs typeface="Times New Roman" panose="02020603050405020304" pitchFamily="18" charset="0"/>
        </a:defRPr>
      </a:lvl2pPr>
      <a:lvl3pPr marL="804863" indent="-263525" algn="l" rtl="0" eaLnBrk="0" fontAlgn="base" hangingPunct="0">
        <a:spcBef>
          <a:spcPct val="20000"/>
        </a:spcBef>
        <a:spcAft>
          <a:spcPct val="0"/>
        </a:spcAft>
        <a:buClr>
          <a:srgbClr val="000E78"/>
        </a:buClr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ＭＳ Ｐゴシック" pitchFamily="35" charset="-128"/>
          <a:cs typeface="Times New Roman" panose="02020603050405020304" pitchFamily="18" charset="0"/>
        </a:defRPr>
      </a:lvl3pPr>
      <a:lvl4pPr marL="1074738" indent="-2698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charset="0"/>
        <a:buChar char="Ø"/>
        <a:defRPr sz="2000">
          <a:solidFill>
            <a:srgbClr val="000E78"/>
          </a:solidFill>
          <a:latin typeface="+mn-lt"/>
          <a:ea typeface="ＭＳ Ｐゴシック" pitchFamily="35" charset="-128"/>
          <a:cs typeface="Times New Roman" panose="02020603050405020304" pitchFamily="18" charset="0"/>
        </a:defRPr>
      </a:lvl4pPr>
      <a:lvl5pPr marL="1346200" indent="-27146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charset="0"/>
        <a:buChar char="v"/>
        <a:defRPr sz="2000">
          <a:solidFill>
            <a:srgbClr val="000E78"/>
          </a:solidFill>
          <a:latin typeface="+mn-lt"/>
          <a:ea typeface="ＭＳ Ｐゴシック" pitchFamily="35" charset="-128"/>
          <a:cs typeface="Times New Roman" panose="02020603050405020304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0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0.png"/><Relationship Id="rId9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Lab Session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noProof="0" dirty="0"/>
              <a:t>Mechanics applied to Aerospace Engineering 26/27-S1</a:t>
            </a:r>
          </a:p>
          <a:p>
            <a:endParaRPr lang="en-US" b="1" noProof="0" dirty="0"/>
          </a:p>
          <a:p>
            <a:r>
              <a:rPr lang="en-US" b="1" noProof="0" dirty="0"/>
              <a:t>Iñaki Fernández Tena</a:t>
            </a:r>
          </a:p>
        </p:txBody>
      </p:sp>
    </p:spTree>
    <p:extLst>
      <p:ext uri="{BB962C8B-B14F-4D97-AF65-F5344CB8AC3E}">
        <p14:creationId xmlns:p14="http://schemas.microsoft.com/office/powerpoint/2010/main" val="3569564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How to write a scientific report</a:t>
            </a:r>
          </a:p>
          <a:p>
            <a:pPr lvl="1"/>
            <a:r>
              <a:rPr lang="en-US" noProof="0" dirty="0"/>
              <a:t>Structure</a:t>
            </a:r>
          </a:p>
          <a:p>
            <a:pPr lvl="1"/>
            <a:r>
              <a:rPr lang="en-US" noProof="0" dirty="0"/>
              <a:t>How to present your results</a:t>
            </a:r>
          </a:p>
          <a:p>
            <a:pPr lvl="1"/>
            <a:r>
              <a:rPr lang="en-US" noProof="0" dirty="0"/>
              <a:t>General remarks</a:t>
            </a:r>
          </a:p>
          <a:p>
            <a:endParaRPr lang="en-US" noProof="0" dirty="0"/>
          </a:p>
          <a:p>
            <a:r>
              <a:rPr lang="en-US" b="1" noProof="0" dirty="0"/>
              <a:t>Problem of particle connected to a spool</a:t>
            </a:r>
          </a:p>
          <a:p>
            <a:pPr lvl="1"/>
            <a:r>
              <a:rPr lang="en-US" noProof="0" dirty="0"/>
              <a:t>Basic </a:t>
            </a:r>
            <a:r>
              <a:rPr lang="en-US" noProof="0" dirty="0" err="1"/>
              <a:t>Matlab</a:t>
            </a:r>
            <a:r>
              <a:rPr lang="en-US" noProof="0" dirty="0"/>
              <a:t> session on ode45</a:t>
            </a:r>
          </a:p>
          <a:p>
            <a:pPr lvl="1"/>
            <a:r>
              <a:rPr lang="en-US" noProof="0" dirty="0"/>
              <a:t>Reminder of the problem </a:t>
            </a:r>
          </a:p>
          <a:p>
            <a:pPr lvl="1"/>
            <a:r>
              <a:rPr lang="en-US" dirty="0"/>
              <a:t>M</a:t>
            </a:r>
            <a:r>
              <a:rPr lang="en-US" noProof="0" dirty="0" err="1"/>
              <a:t>ain</a:t>
            </a:r>
            <a:r>
              <a:rPr lang="en-US" noProof="0" dirty="0"/>
              <a:t> analytical solutions you need today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0E5A4-1032-4786-A9BB-359A429A9129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1761457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3B484-B231-BAC5-D5C4-9E08678C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22DD44-94EE-E594-CE36-A611D8EF0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How to write a scientific report</a:t>
            </a:r>
          </a:p>
          <a:p>
            <a:pPr lvl="1"/>
            <a:r>
              <a:rPr lang="en-US" noProof="0" dirty="0"/>
              <a:t>Structure</a:t>
            </a:r>
          </a:p>
          <a:p>
            <a:pPr lvl="1"/>
            <a:r>
              <a:rPr lang="en-US" noProof="0" dirty="0"/>
              <a:t>How to present your results</a:t>
            </a:r>
          </a:p>
          <a:p>
            <a:pPr lvl="1"/>
            <a:r>
              <a:rPr lang="en-US" noProof="0" dirty="0"/>
              <a:t>General remarks</a:t>
            </a:r>
          </a:p>
          <a:p>
            <a:endParaRPr lang="en-US" noProof="0" dirty="0"/>
          </a:p>
          <a:p>
            <a:r>
              <a:rPr lang="en-US" b="1" noProof="0" dirty="0">
                <a:solidFill>
                  <a:schemeClr val="bg1">
                    <a:lumMod val="85000"/>
                  </a:schemeClr>
                </a:solidFill>
              </a:rPr>
              <a:t>Problem of particle connected to a spool</a:t>
            </a:r>
          </a:p>
          <a:p>
            <a:pPr lvl="1"/>
            <a:r>
              <a:rPr lang="en-US" noProof="0" dirty="0">
                <a:solidFill>
                  <a:schemeClr val="bg1">
                    <a:lumMod val="85000"/>
                  </a:schemeClr>
                </a:solidFill>
              </a:rPr>
              <a:t>Basic </a:t>
            </a:r>
            <a:r>
              <a:rPr lang="en-US" noProof="0" dirty="0" err="1">
                <a:solidFill>
                  <a:schemeClr val="bg1">
                    <a:lumMod val="85000"/>
                  </a:schemeClr>
                </a:solidFill>
              </a:rPr>
              <a:t>Matlab</a:t>
            </a:r>
            <a:r>
              <a:rPr lang="en-US" noProof="0" dirty="0">
                <a:solidFill>
                  <a:schemeClr val="bg1">
                    <a:lumMod val="85000"/>
                  </a:schemeClr>
                </a:solidFill>
              </a:rPr>
              <a:t> session on ode45</a:t>
            </a:r>
          </a:p>
          <a:p>
            <a:pPr lvl="1"/>
            <a:r>
              <a:rPr lang="en-US" noProof="0" dirty="0">
                <a:solidFill>
                  <a:schemeClr val="bg1">
                    <a:lumMod val="85000"/>
                  </a:schemeClr>
                </a:solidFill>
              </a:rPr>
              <a:t>Reminder of the problem 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</a:t>
            </a:r>
            <a:r>
              <a:rPr lang="en-US" noProof="0" dirty="0" err="1">
                <a:solidFill>
                  <a:schemeClr val="bg1">
                    <a:lumMod val="85000"/>
                  </a:schemeClr>
                </a:solidFill>
              </a:rPr>
              <a:t>ain</a:t>
            </a:r>
            <a:r>
              <a:rPr lang="en-US" noProof="0" dirty="0">
                <a:solidFill>
                  <a:schemeClr val="bg1">
                    <a:lumMod val="85000"/>
                  </a:schemeClr>
                </a:solidFill>
              </a:rPr>
              <a:t> analytical solutions you need today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3D4E82-6950-FE79-8FFB-504BB9330B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0E5A4-1032-4786-A9BB-359A429A9129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6812C2-4C36-FB26-F1F3-D84881B51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653429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4985DAA-7854-3FE6-6AD3-098AAC744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49" y="977900"/>
            <a:ext cx="8897097" cy="5324288"/>
          </a:xfrm>
        </p:spPr>
        <p:txBody>
          <a:bodyPr/>
          <a:lstStyle/>
          <a:p>
            <a:r>
              <a:rPr lang="en-US" noProof="0" dirty="0"/>
              <a:t>The way you present your results is at least as important as obtaining them !</a:t>
            </a:r>
          </a:p>
          <a:p>
            <a:pPr lvl="1"/>
            <a:r>
              <a:rPr lang="en-US" dirty="0"/>
              <a:t>This is done through writing a </a:t>
            </a:r>
            <a:r>
              <a:rPr lang="en-US" b="1" dirty="0"/>
              <a:t>scientific report</a:t>
            </a:r>
          </a:p>
          <a:p>
            <a:pPr lvl="2"/>
            <a:r>
              <a:rPr lang="en-US" noProof="0" dirty="0"/>
              <a:t>It has its own code and rules, that you should respect</a:t>
            </a:r>
          </a:p>
          <a:p>
            <a:pPr marL="0" indent="0">
              <a:buNone/>
            </a:pPr>
            <a:r>
              <a:rPr lang="en-US" sz="2000" i="1" dirty="0"/>
              <a:t>This is also the goal of these lab sessions : to learn to write a report and present your work</a:t>
            </a:r>
          </a:p>
          <a:p>
            <a:pPr lvl="1"/>
            <a:endParaRPr lang="en-US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5B9216C-E27D-3F82-12B8-1020723E9F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0E5A4-1032-4786-A9BB-359A429A9129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2F6A801-7294-9E89-77F0-5CB5B1E10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Report writing</a:t>
            </a:r>
          </a:p>
        </p:txBody>
      </p:sp>
    </p:spTree>
    <p:extLst>
      <p:ext uri="{BB962C8B-B14F-4D97-AF65-F5344CB8AC3E}">
        <p14:creationId xmlns:p14="http://schemas.microsoft.com/office/powerpoint/2010/main" val="1337860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B90CF-494D-88F8-5E1F-86634C8BA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E97938D-D1F1-273E-4E16-6AF54DF84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49" y="977900"/>
            <a:ext cx="8897097" cy="5324288"/>
          </a:xfrm>
        </p:spPr>
        <p:txBody>
          <a:bodyPr/>
          <a:lstStyle/>
          <a:p>
            <a:r>
              <a:rPr lang="en-US" noProof="0" dirty="0"/>
              <a:t>The way you present your results is at least as important as obtaining them !</a:t>
            </a:r>
          </a:p>
          <a:p>
            <a:pPr lvl="1"/>
            <a:r>
              <a:rPr lang="en-US" dirty="0"/>
              <a:t>This is done through writing a </a:t>
            </a:r>
            <a:r>
              <a:rPr lang="en-US" b="1" dirty="0"/>
              <a:t>scientific report</a:t>
            </a:r>
          </a:p>
          <a:p>
            <a:pPr lvl="2"/>
            <a:r>
              <a:rPr lang="en-US" noProof="0" dirty="0"/>
              <a:t>It has its own code and rules, that you should respect</a:t>
            </a:r>
          </a:p>
          <a:p>
            <a:pPr marL="0" indent="0">
              <a:buNone/>
            </a:pPr>
            <a:r>
              <a:rPr lang="en-US" sz="2000" i="1" dirty="0"/>
              <a:t>This is also the goal of these lab sessions : to learn to write a report and present your work</a:t>
            </a:r>
          </a:p>
          <a:p>
            <a:endParaRPr lang="en-US" dirty="0"/>
          </a:p>
          <a:p>
            <a:r>
              <a:rPr lang="en-US" noProof="0" dirty="0"/>
              <a:t>Present your work as you’re showing it to someone that doesn’t know anything about it</a:t>
            </a:r>
          </a:p>
          <a:p>
            <a:pPr lvl="1"/>
            <a:r>
              <a:rPr lang="en-US" dirty="0"/>
              <a:t>Do not assume your teacher will be the one correcting it</a:t>
            </a:r>
          </a:p>
          <a:p>
            <a:pPr lvl="1"/>
            <a:r>
              <a:rPr lang="en-US" noProof="0" dirty="0"/>
              <a:t>You should explain in detail </a:t>
            </a:r>
            <a:r>
              <a:rPr lang="en-US" dirty="0"/>
              <a:t>your reasoning</a:t>
            </a:r>
          </a:p>
          <a:p>
            <a:pPr lvl="2"/>
            <a:r>
              <a:rPr lang="en-US" dirty="0"/>
              <a:t>in a logical and understandable way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Please </a:t>
            </a:r>
            <a:r>
              <a:rPr lang="en-US" b="1" dirty="0">
                <a:solidFill>
                  <a:srgbClr val="FF0000"/>
                </a:solidFill>
              </a:rPr>
              <a:t>read carefully the Laboratory Guidelines </a:t>
            </a:r>
            <a:r>
              <a:rPr lang="en-US" dirty="0">
                <a:solidFill>
                  <a:srgbClr val="FF0000"/>
                </a:solidFill>
              </a:rPr>
              <a:t>and follow them</a:t>
            </a:r>
          </a:p>
          <a:p>
            <a:pPr lvl="1"/>
            <a:endParaRPr lang="en-US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14901F3-F22D-ACA2-D230-9451D597D3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noProof="0" dirty="0"/>
              <a:t>3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613AE23-0E3E-5FD5-D308-CA3C1FD55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Report writing</a:t>
            </a:r>
          </a:p>
        </p:txBody>
      </p:sp>
    </p:spTree>
    <p:extLst>
      <p:ext uri="{BB962C8B-B14F-4D97-AF65-F5344CB8AC3E}">
        <p14:creationId xmlns:p14="http://schemas.microsoft.com/office/powerpoint/2010/main" val="4152613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ABADD-09BA-1DEF-D6BC-AB082BDAE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D105CAF-4D5B-B0D8-7E7D-2E5B287BC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 report should </a:t>
            </a:r>
            <a:r>
              <a:rPr lang="en-US" b="1" noProof="0" dirty="0"/>
              <a:t>always start</a:t>
            </a:r>
            <a:r>
              <a:rPr lang="en-US" noProof="0" dirty="0"/>
              <a:t> with an </a:t>
            </a:r>
            <a:r>
              <a:rPr lang="en-US" b="1" noProof="0" dirty="0">
                <a:solidFill>
                  <a:srgbClr val="FF0000"/>
                </a:solidFill>
              </a:rPr>
              <a:t>INTRODUCTION</a:t>
            </a:r>
          </a:p>
          <a:p>
            <a:pPr lvl="1"/>
            <a:r>
              <a:rPr lang="en-US" noProof="0" dirty="0"/>
              <a:t>Introduce the problem to the reader</a:t>
            </a:r>
          </a:p>
          <a:p>
            <a:pPr lvl="1"/>
            <a:r>
              <a:rPr lang="en-US" noProof="0" dirty="0"/>
              <a:t>Present the </a:t>
            </a:r>
            <a:r>
              <a:rPr lang="en-US" b="1" noProof="0" dirty="0"/>
              <a:t>main objectives / challenges </a:t>
            </a:r>
            <a:r>
              <a:rPr lang="en-US" noProof="0" dirty="0"/>
              <a:t>of this work</a:t>
            </a:r>
          </a:p>
          <a:p>
            <a:pPr lvl="1"/>
            <a:r>
              <a:rPr lang="en-US" noProof="0" dirty="0"/>
              <a:t>Give the </a:t>
            </a:r>
            <a:r>
              <a:rPr lang="en-US" b="1" noProof="0" dirty="0"/>
              <a:t>plan</a:t>
            </a:r>
            <a:r>
              <a:rPr lang="en-US" noProof="0" dirty="0"/>
              <a:t> of the report (different sections </a:t>
            </a:r>
            <a:r>
              <a:rPr lang="en-US" noProof="0" dirty="0" err="1"/>
              <a:t>etc</a:t>
            </a:r>
            <a:r>
              <a:rPr lang="en-US" noProof="0" dirty="0"/>
              <a:t>…)</a:t>
            </a:r>
          </a:p>
          <a:p>
            <a:pPr lvl="1"/>
            <a:endParaRPr lang="en-US" noProof="0" dirty="0"/>
          </a:p>
          <a:p>
            <a:r>
              <a:rPr lang="en-US" noProof="0" dirty="0"/>
              <a:t>It doesn’t need to be long, keep it </a:t>
            </a:r>
            <a:r>
              <a:rPr lang="en-US" b="1" noProof="0" dirty="0"/>
              <a:t>concise and clear</a:t>
            </a:r>
            <a:r>
              <a:rPr lang="en-US" noProof="0" dirty="0"/>
              <a:t>, but it’s mandatory</a:t>
            </a:r>
          </a:p>
          <a:p>
            <a:pPr lvl="1"/>
            <a:r>
              <a:rPr lang="en-US" dirty="0"/>
              <a:t>Many groups didn’t give one in the first report,</a:t>
            </a:r>
            <a:r>
              <a:rPr lang="en-US" dirty="0">
                <a:solidFill>
                  <a:srgbClr val="FF0000"/>
                </a:solidFill>
              </a:rPr>
              <a:t> therefore the mark was zero (0).</a:t>
            </a:r>
            <a:endParaRPr lang="en-US" noProof="0" dirty="0">
              <a:solidFill>
                <a:srgbClr val="FF0000"/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B9EF87C-BAF0-AA1E-6CC3-5718B0429F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noProof="0" dirty="0"/>
              <a:t>4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BC402AC-EB86-48C9-DA16-D11DC5B5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Report writing : Structure</a:t>
            </a:r>
          </a:p>
        </p:txBody>
      </p:sp>
    </p:spTree>
    <p:extLst>
      <p:ext uri="{BB962C8B-B14F-4D97-AF65-F5344CB8AC3E}">
        <p14:creationId xmlns:p14="http://schemas.microsoft.com/office/powerpoint/2010/main" val="250566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FFCB3-3B84-A57E-E630-9E6351ACC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9CBE1EE-B945-E3F2-4D6D-B7B86758D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introduction should be followed by the </a:t>
            </a:r>
            <a:r>
              <a:rPr lang="en-US" b="1" dirty="0">
                <a:solidFill>
                  <a:srgbClr val="FF0000"/>
                </a:solidFill>
              </a:rPr>
              <a:t>METHODOLOGY</a:t>
            </a:r>
          </a:p>
          <a:p>
            <a:pPr lvl="1"/>
            <a:r>
              <a:rPr lang="en-US" noProof="0" dirty="0"/>
              <a:t>Present the methods you’re using to solve the problem</a:t>
            </a:r>
          </a:p>
          <a:p>
            <a:endParaRPr lang="en-US" dirty="0"/>
          </a:p>
          <a:p>
            <a:r>
              <a:rPr lang="en-US" dirty="0"/>
              <a:t>In this lab session, you should show :</a:t>
            </a:r>
          </a:p>
          <a:p>
            <a:pPr lvl="1"/>
            <a:r>
              <a:rPr lang="en-US" noProof="0" dirty="0"/>
              <a:t>The </a:t>
            </a:r>
            <a:r>
              <a:rPr lang="en-US" b="1" noProof="0" dirty="0">
                <a:solidFill>
                  <a:srgbClr val="FF0000"/>
                </a:solidFill>
              </a:rPr>
              <a:t>complete analytical development</a:t>
            </a:r>
          </a:p>
          <a:p>
            <a:pPr lvl="2"/>
            <a:r>
              <a:rPr lang="en-US" dirty="0"/>
              <a:t>Most of it has been done in class already</a:t>
            </a:r>
          </a:p>
          <a:p>
            <a:pPr lvl="2"/>
            <a:r>
              <a:rPr lang="en-US" dirty="0"/>
              <a:t>I will remind here the main equations needed today, but I expect the full development in the report</a:t>
            </a:r>
          </a:p>
          <a:p>
            <a:pPr lvl="3"/>
            <a:r>
              <a:rPr lang="en-US" b="1" dirty="0">
                <a:solidFill>
                  <a:srgbClr val="FF0000"/>
                </a:solidFill>
              </a:rPr>
              <a:t>This is evaluated as well</a:t>
            </a:r>
          </a:p>
          <a:p>
            <a:pPr lvl="1"/>
            <a:r>
              <a:rPr lang="en-US" dirty="0"/>
              <a:t>The “numerical setup” : how you pass </a:t>
            </a:r>
            <a:r>
              <a:rPr lang="en-US" b="1" dirty="0">
                <a:solidFill>
                  <a:srgbClr val="FF0000"/>
                </a:solidFill>
              </a:rPr>
              <a:t>from analytical to numerical implementation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E272A74-9538-FF6E-F48E-EA31481919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noProof="0" dirty="0"/>
              <a:t>5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9CAE1D8E-44A1-0554-93F1-70DFFE3B1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Report writing : Structure</a:t>
            </a:r>
          </a:p>
        </p:txBody>
      </p:sp>
    </p:spTree>
    <p:extLst>
      <p:ext uri="{BB962C8B-B14F-4D97-AF65-F5344CB8AC3E}">
        <p14:creationId xmlns:p14="http://schemas.microsoft.com/office/powerpoint/2010/main" val="671163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F5467-C93F-99BD-D269-5D9E0B94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8528591-2AD0-CBED-5D4B-5F9BD0102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977900"/>
            <a:ext cx="8959850" cy="5232400"/>
          </a:xfrm>
        </p:spPr>
        <p:txBody>
          <a:bodyPr/>
          <a:lstStyle/>
          <a:p>
            <a:r>
              <a:rPr lang="en-US" dirty="0"/>
              <a:t>Then you should present your </a:t>
            </a:r>
            <a:r>
              <a:rPr lang="en-US" b="1" dirty="0">
                <a:solidFill>
                  <a:srgbClr val="FF0000"/>
                </a:solidFill>
              </a:rPr>
              <a:t>RESULTS</a:t>
            </a:r>
            <a:r>
              <a:rPr lang="en-US" dirty="0"/>
              <a:t> and </a:t>
            </a:r>
            <a:r>
              <a:rPr lang="en-US" b="1" dirty="0"/>
              <a:t>critically analyze / discuss</a:t>
            </a:r>
            <a:r>
              <a:rPr lang="en-US" dirty="0"/>
              <a:t> them in the report</a:t>
            </a:r>
          </a:p>
          <a:p>
            <a:endParaRPr lang="en-US" dirty="0"/>
          </a:p>
          <a:p>
            <a:r>
              <a:rPr lang="en-US" dirty="0"/>
              <a:t>Your results (the figures) should be a tool (not a finality) to show what you want to emphasize</a:t>
            </a:r>
          </a:p>
          <a:p>
            <a:pPr lvl="1"/>
            <a:r>
              <a:rPr lang="en-US" dirty="0"/>
              <a:t>You’re not just showing data, you’re showing </a:t>
            </a:r>
            <a:r>
              <a:rPr lang="en-US" b="1" dirty="0"/>
              <a:t>physical phenomena</a:t>
            </a:r>
          </a:p>
          <a:p>
            <a:pPr lvl="2"/>
            <a:r>
              <a:rPr lang="en-US" dirty="0"/>
              <a:t>So do not just put the plots there, but comment all of them</a:t>
            </a:r>
          </a:p>
          <a:p>
            <a:pPr lvl="3"/>
            <a:r>
              <a:rPr lang="en-US" b="1" i="1" dirty="0">
                <a:solidFill>
                  <a:srgbClr val="FF0000"/>
                </a:solidFill>
              </a:rPr>
              <a:t>A plot without any comment is worthless</a:t>
            </a:r>
          </a:p>
          <a:p>
            <a:endParaRPr lang="en-US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AFD582-7F6C-D167-0187-C22CA16143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noProof="0" dirty="0"/>
              <a:t>6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BBAB03B7-591F-5888-0436-CD6F8E41D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present your results ?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9997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BE5C7-6D05-3DDA-C39C-97F71D07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0FECA0F-ABDE-EA48-1BFE-81E193943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891036"/>
            <a:ext cx="8959850" cy="1941811"/>
          </a:xfrm>
        </p:spPr>
        <p:txBody>
          <a:bodyPr/>
          <a:lstStyle/>
          <a:p>
            <a:r>
              <a:rPr lang="en-US" sz="2000" dirty="0"/>
              <a:t>About the plots themselves</a:t>
            </a:r>
          </a:p>
          <a:p>
            <a:pPr lvl="1"/>
            <a:r>
              <a:rPr lang="en-US" sz="2000" dirty="0"/>
              <a:t>Make them </a:t>
            </a:r>
            <a:r>
              <a:rPr lang="en-US" sz="2000" b="1" dirty="0"/>
              <a:t>clear and easily readable </a:t>
            </a:r>
            <a:r>
              <a:rPr lang="en-US" sz="2000" dirty="0"/>
              <a:t>(</a:t>
            </a:r>
            <a:r>
              <a:rPr lang="en-US" sz="2000" i="1" dirty="0"/>
              <a:t>font size in the figures should be roughly the one in the text</a:t>
            </a:r>
            <a:r>
              <a:rPr lang="en-US" sz="2000" dirty="0"/>
              <a:t>). We will talk more about this later.</a:t>
            </a:r>
          </a:p>
          <a:p>
            <a:pPr lvl="1"/>
            <a:r>
              <a:rPr lang="en-US" sz="2000" b="1" dirty="0"/>
              <a:t>Show clearly the trends </a:t>
            </a:r>
            <a:r>
              <a:rPr lang="en-US" sz="2000" dirty="0"/>
              <a:t>of the graphs</a:t>
            </a:r>
          </a:p>
          <a:p>
            <a:pPr lvl="1"/>
            <a:r>
              <a:rPr lang="en-US" sz="2000" dirty="0"/>
              <a:t>Be careful about physical quantities (italic), units (non-italic) </a:t>
            </a:r>
            <a:r>
              <a:rPr lang="en-US" sz="2000" dirty="0" err="1"/>
              <a:t>etc</a:t>
            </a:r>
            <a:r>
              <a:rPr lang="en-US" sz="2000" dirty="0"/>
              <a:t>…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2B8486E-2B12-5B5E-F6D9-C3B5E2414A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96285" y="6419167"/>
            <a:ext cx="469179" cy="365125"/>
          </a:xfrm>
        </p:spPr>
        <p:txBody>
          <a:bodyPr/>
          <a:lstStyle/>
          <a:p>
            <a:r>
              <a:rPr lang="en-US" noProof="0" dirty="0"/>
              <a:t>7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C9ADDCE-3845-D74B-666B-12A27558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present your results ?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0329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A202-3056-AF8B-C257-71C49A56A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7CF92DD-B00E-3CBA-5B16-7941D3C6D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891036"/>
            <a:ext cx="8959850" cy="1941811"/>
          </a:xfrm>
        </p:spPr>
        <p:txBody>
          <a:bodyPr/>
          <a:lstStyle/>
          <a:p>
            <a:r>
              <a:rPr lang="en-US" sz="2000" dirty="0"/>
              <a:t>About the plots themselves</a:t>
            </a:r>
          </a:p>
          <a:p>
            <a:pPr lvl="1"/>
            <a:r>
              <a:rPr lang="en-US" sz="2000" dirty="0"/>
              <a:t>Make them </a:t>
            </a:r>
            <a:r>
              <a:rPr lang="en-US" sz="2000" b="1" dirty="0"/>
              <a:t>clear and easily readable </a:t>
            </a:r>
            <a:r>
              <a:rPr lang="en-US" sz="2000" dirty="0"/>
              <a:t>(</a:t>
            </a:r>
            <a:r>
              <a:rPr lang="en-US" sz="2000" i="1" dirty="0"/>
              <a:t>font size in the figures should be roughly the one in the text</a:t>
            </a:r>
            <a:r>
              <a:rPr lang="en-US" sz="2000" dirty="0"/>
              <a:t>)</a:t>
            </a:r>
          </a:p>
          <a:p>
            <a:pPr lvl="1"/>
            <a:r>
              <a:rPr lang="en-US" sz="2000" b="1" dirty="0"/>
              <a:t>Show clearly the trends </a:t>
            </a:r>
            <a:r>
              <a:rPr lang="en-US" sz="2000" dirty="0"/>
              <a:t>of the graphs</a:t>
            </a:r>
          </a:p>
          <a:p>
            <a:pPr lvl="1"/>
            <a:r>
              <a:rPr lang="en-US" sz="2000" dirty="0"/>
              <a:t>Be careful about physical quantities (italic), units (non-italic) </a:t>
            </a:r>
            <a:r>
              <a:rPr lang="en-US" sz="2000" dirty="0" err="1"/>
              <a:t>etc</a:t>
            </a:r>
            <a:r>
              <a:rPr lang="en-US" sz="2000" dirty="0"/>
              <a:t>…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E3C43CD-E1DA-9FD8-423B-ACE16E4B4A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96285" y="6419167"/>
            <a:ext cx="469179" cy="365125"/>
          </a:xfrm>
        </p:spPr>
        <p:txBody>
          <a:bodyPr/>
          <a:lstStyle/>
          <a:p>
            <a:r>
              <a:rPr lang="en-US" noProof="0" dirty="0"/>
              <a:t>7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3F93B76F-F4C9-F12E-6CF8-B01006251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present your results ?</a:t>
            </a:r>
            <a:endParaRPr lang="en-US" noProof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01EE99E-BCFF-4C62-AB8F-9FF2E4575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69" y="2860687"/>
            <a:ext cx="3913190" cy="315110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34075F4-AAA8-764D-EF9F-B0CD7C4E322B}"/>
              </a:ext>
            </a:extLst>
          </p:cNvPr>
          <p:cNvSpPr txBox="1"/>
          <p:nvPr/>
        </p:nvSpPr>
        <p:spPr>
          <a:xfrm>
            <a:off x="1517975" y="6011789"/>
            <a:ext cx="1783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Very </a:t>
            </a:r>
            <a:r>
              <a:rPr lang="fr-FR" sz="1400" dirty="0" err="1"/>
              <a:t>bad</a:t>
            </a:r>
            <a:r>
              <a:rPr lang="fr-FR" sz="1400" dirty="0"/>
              <a:t> plot…</a:t>
            </a:r>
          </a:p>
        </p:txBody>
      </p:sp>
    </p:spTree>
    <p:extLst>
      <p:ext uri="{BB962C8B-B14F-4D97-AF65-F5344CB8AC3E}">
        <p14:creationId xmlns:p14="http://schemas.microsoft.com/office/powerpoint/2010/main" val="614316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50B5-091B-6ECF-6B63-F926A2D7B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8873C3B-F444-8B94-3891-11EC7E7A0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891036"/>
            <a:ext cx="8959850" cy="1941811"/>
          </a:xfrm>
        </p:spPr>
        <p:txBody>
          <a:bodyPr/>
          <a:lstStyle/>
          <a:p>
            <a:r>
              <a:rPr lang="en-US" sz="2000" dirty="0"/>
              <a:t>About the plots themselves</a:t>
            </a:r>
          </a:p>
          <a:p>
            <a:pPr lvl="1"/>
            <a:r>
              <a:rPr lang="en-US" sz="2000" dirty="0"/>
              <a:t>Make them </a:t>
            </a:r>
            <a:r>
              <a:rPr lang="en-US" sz="2000" b="1" dirty="0"/>
              <a:t>clear and easily readable </a:t>
            </a:r>
            <a:r>
              <a:rPr lang="en-US" sz="2000" dirty="0"/>
              <a:t>(</a:t>
            </a:r>
            <a:r>
              <a:rPr lang="en-US" sz="2000" i="1" dirty="0"/>
              <a:t>font size in the figures should be roughly the one in the text</a:t>
            </a:r>
            <a:r>
              <a:rPr lang="en-US" sz="2000" dirty="0"/>
              <a:t>)</a:t>
            </a:r>
          </a:p>
          <a:p>
            <a:pPr lvl="1"/>
            <a:r>
              <a:rPr lang="en-US" sz="2000" b="1" dirty="0"/>
              <a:t>Show clearly the trends </a:t>
            </a:r>
            <a:r>
              <a:rPr lang="en-US" sz="2000" dirty="0"/>
              <a:t>of the graphs</a:t>
            </a:r>
          </a:p>
          <a:p>
            <a:pPr lvl="1"/>
            <a:r>
              <a:rPr lang="en-US" sz="2000" dirty="0"/>
              <a:t>Be careful about physical quantities (italic), units (non-italic) </a:t>
            </a:r>
            <a:r>
              <a:rPr lang="en-US" sz="2000" dirty="0" err="1"/>
              <a:t>etc</a:t>
            </a:r>
            <a:r>
              <a:rPr lang="en-US" sz="2000" dirty="0"/>
              <a:t>…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384867C-3520-6BC5-6605-15FC7E3B6B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96285" y="6419167"/>
            <a:ext cx="469179" cy="365125"/>
          </a:xfrm>
        </p:spPr>
        <p:txBody>
          <a:bodyPr/>
          <a:lstStyle/>
          <a:p>
            <a:r>
              <a:rPr lang="en-US" noProof="0" dirty="0"/>
              <a:t>7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9AF2068-07C6-1D32-198E-2ABD59B4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present your results ?</a:t>
            </a:r>
            <a:endParaRPr lang="en-US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AE4386D-1A9E-AA34-95C0-D872E102C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442" y="2856106"/>
            <a:ext cx="3998258" cy="315568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62B8B51-3751-F816-C9F9-B38FD0C26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69" y="2860687"/>
            <a:ext cx="3913190" cy="315110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A29B447-3CBD-8675-051C-7B645F3CE5E2}"/>
              </a:ext>
            </a:extLst>
          </p:cNvPr>
          <p:cNvSpPr txBox="1"/>
          <p:nvPr/>
        </p:nvSpPr>
        <p:spPr>
          <a:xfrm>
            <a:off x="5842050" y="6011789"/>
            <a:ext cx="2330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… and a </a:t>
            </a:r>
            <a:r>
              <a:rPr lang="fr-FR" sz="1400" dirty="0" err="1"/>
              <a:t>much</a:t>
            </a:r>
            <a:r>
              <a:rPr lang="fr-FR" sz="1400" dirty="0"/>
              <a:t> </a:t>
            </a:r>
            <a:r>
              <a:rPr lang="fr-FR" sz="1400" dirty="0" err="1"/>
              <a:t>better</a:t>
            </a:r>
            <a:r>
              <a:rPr lang="fr-FR" sz="1400" dirty="0"/>
              <a:t> one !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CBB5C54-0A58-D663-18BA-89284AAB0731}"/>
              </a:ext>
            </a:extLst>
          </p:cNvPr>
          <p:cNvSpPr txBox="1"/>
          <p:nvPr/>
        </p:nvSpPr>
        <p:spPr>
          <a:xfrm>
            <a:off x="1517975" y="6011789"/>
            <a:ext cx="1783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Very </a:t>
            </a:r>
            <a:r>
              <a:rPr lang="fr-FR" sz="1400" dirty="0" err="1"/>
              <a:t>bad</a:t>
            </a:r>
            <a:r>
              <a:rPr lang="fr-FR" sz="1400" dirty="0"/>
              <a:t> plot…</a:t>
            </a:r>
          </a:p>
        </p:txBody>
      </p:sp>
    </p:spTree>
    <p:extLst>
      <p:ext uri="{BB962C8B-B14F-4D97-AF65-F5344CB8AC3E}">
        <p14:creationId xmlns:p14="http://schemas.microsoft.com/office/powerpoint/2010/main" val="1693466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85E67-0128-DF11-702F-5EDADC012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5331659-D9F5-418A-436B-D724769C6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977900"/>
            <a:ext cx="8959850" cy="52324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DISCUSSION</a:t>
            </a:r>
            <a:r>
              <a:rPr lang="en-US" dirty="0"/>
              <a:t> part is very important : </a:t>
            </a:r>
            <a:r>
              <a:rPr lang="en-US" b="1" dirty="0"/>
              <a:t>you should comment the physics behind the data you show</a:t>
            </a:r>
          </a:p>
          <a:p>
            <a:pPr lvl="1"/>
            <a:r>
              <a:rPr lang="en-US" dirty="0"/>
              <a:t>Please do not comment literally what you’re seeing</a:t>
            </a:r>
          </a:p>
          <a:p>
            <a:pPr lvl="1"/>
            <a:r>
              <a:rPr lang="en-US" dirty="0"/>
              <a:t>No “the curve goes up”… everyone can see this, but I want you</a:t>
            </a:r>
          </a:p>
          <a:p>
            <a:pPr lvl="2"/>
            <a:r>
              <a:rPr lang="en-US" dirty="0"/>
              <a:t>To explain why it goes this way</a:t>
            </a:r>
          </a:p>
          <a:p>
            <a:pPr lvl="2"/>
            <a:r>
              <a:rPr lang="en-US" dirty="0"/>
              <a:t>To explain the consequence of this, what does it mean in our problem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A4CBA16-93DD-776F-D97F-B149A5E88B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noProof="0" dirty="0"/>
              <a:t>8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583140B-C430-7687-4B4D-CF67A589A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How to present your results ?</a:t>
            </a:r>
          </a:p>
        </p:txBody>
      </p:sp>
    </p:spTree>
    <p:extLst>
      <p:ext uri="{BB962C8B-B14F-4D97-AF65-F5344CB8AC3E}">
        <p14:creationId xmlns:p14="http://schemas.microsoft.com/office/powerpoint/2010/main" val="737662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C5679-E1AB-24E8-D982-289C8D250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F23AEDD-5793-7C55-A97F-59D5A1D4D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Finally, end your report with a proper </a:t>
            </a:r>
            <a:r>
              <a:rPr lang="en-US" b="1" dirty="0">
                <a:solidFill>
                  <a:srgbClr val="FF0000"/>
                </a:solidFill>
              </a:rPr>
              <a:t>CONCLUSION</a:t>
            </a:r>
          </a:p>
          <a:p>
            <a:pPr lvl="1"/>
            <a:r>
              <a:rPr lang="en-US" dirty="0"/>
              <a:t>Avoid to repeat to much what you said in the intro</a:t>
            </a:r>
          </a:p>
          <a:p>
            <a:pPr lvl="1"/>
            <a:r>
              <a:rPr lang="en-US" b="1" dirty="0"/>
              <a:t>Summarize the work done and the main results</a:t>
            </a:r>
          </a:p>
          <a:p>
            <a:pPr lvl="2"/>
            <a:r>
              <a:rPr lang="en-US" noProof="0" dirty="0"/>
              <a:t>Highlight the main physical processes that you analyzed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67CE6DE-F087-D82B-9A59-03A92F2173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noProof="0" dirty="0"/>
              <a:t>9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F489312-311D-1626-B119-23F25AF23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Report writing : Structure</a:t>
            </a:r>
          </a:p>
        </p:txBody>
      </p:sp>
    </p:spTree>
    <p:extLst>
      <p:ext uri="{BB962C8B-B14F-4D97-AF65-F5344CB8AC3E}">
        <p14:creationId xmlns:p14="http://schemas.microsoft.com/office/powerpoint/2010/main" val="2531406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8F7B3-5C01-2C09-6EF1-9C87A0BD6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3A7D501-56F0-5EF4-9435-3F47AD8F6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977900"/>
            <a:ext cx="8959850" cy="5232400"/>
          </a:xfrm>
          <a:noFill/>
        </p:spPr>
        <p:txBody>
          <a:bodyPr/>
          <a:lstStyle/>
          <a:p>
            <a:r>
              <a:rPr lang="en-US" b="1" dirty="0"/>
              <a:t>Structure summary</a:t>
            </a:r>
          </a:p>
          <a:p>
            <a:pPr lvl="1"/>
            <a:r>
              <a:rPr lang="en-US" noProof="0" dirty="0"/>
              <a:t>Introduction</a:t>
            </a:r>
          </a:p>
          <a:p>
            <a:pPr lvl="1"/>
            <a:r>
              <a:rPr lang="en-US" dirty="0"/>
              <a:t>Methodology</a:t>
            </a:r>
          </a:p>
          <a:p>
            <a:pPr lvl="2"/>
            <a:r>
              <a:rPr lang="en-US" dirty="0"/>
              <a:t>Analytical developments</a:t>
            </a:r>
          </a:p>
          <a:p>
            <a:pPr lvl="1"/>
            <a:r>
              <a:rPr lang="en-US" noProof="0" dirty="0"/>
              <a:t>Results</a:t>
            </a:r>
          </a:p>
          <a:p>
            <a:pPr lvl="2"/>
            <a:r>
              <a:rPr lang="en-US" noProof="0" dirty="0"/>
              <a:t>Plots / Tables</a:t>
            </a:r>
          </a:p>
          <a:p>
            <a:pPr lvl="2"/>
            <a:r>
              <a:rPr lang="en-US" dirty="0"/>
              <a:t>Discussion</a:t>
            </a:r>
            <a:endParaRPr lang="en-US" noProof="0" dirty="0"/>
          </a:p>
          <a:p>
            <a:pPr lvl="1"/>
            <a:r>
              <a:rPr lang="en-US" dirty="0"/>
              <a:t>Conclusion</a:t>
            </a:r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r>
              <a:rPr lang="en-US" dirty="0"/>
              <a:t>Avoid to</a:t>
            </a:r>
            <a:r>
              <a:rPr lang="en-US" b="1" dirty="0"/>
              <a:t> rewrite the questions of the problem</a:t>
            </a:r>
            <a:r>
              <a:rPr lang="en-US" dirty="0"/>
              <a:t> in your report</a:t>
            </a:r>
          </a:p>
          <a:p>
            <a:pPr lvl="1"/>
            <a:r>
              <a:rPr lang="en-US" sz="1800" i="1" dirty="0"/>
              <a:t>Of course, you should follow the questions and answer them, but you can structure your reasoning in many ways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A345A93-4AD1-9B35-48F0-1F52CF92CC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noProof="0" dirty="0"/>
              <a:t>10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E9A66F54-6FBF-C740-C7B6-8B71DA964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Report writing : 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F42997-E26F-803A-4824-492A4D692015}"/>
              </a:ext>
            </a:extLst>
          </p:cNvPr>
          <p:cNvSpPr/>
          <p:nvPr/>
        </p:nvSpPr>
        <p:spPr bwMode="auto">
          <a:xfrm>
            <a:off x="175184" y="977900"/>
            <a:ext cx="3832040" cy="326240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6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9421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26795-3D86-BAE6-C148-4EDE38B1F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899BCC6-F5B3-DD43-42E5-4DEB948F1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921065"/>
            <a:ext cx="8959850" cy="5324288"/>
          </a:xfrm>
        </p:spPr>
        <p:txBody>
          <a:bodyPr/>
          <a:lstStyle/>
          <a:p>
            <a:r>
              <a:rPr lang="en-US" dirty="0"/>
              <a:t>This is also evaluated in these lab sessions (expecting better reports in Lab 2)</a:t>
            </a:r>
          </a:p>
          <a:p>
            <a:pPr lvl="1"/>
            <a:r>
              <a:rPr lang="en-US" b="1" dirty="0"/>
              <a:t>Part of the points are given on the quality of the report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EA2C7BC-6C67-6BA6-A3A7-81794CF8D1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noProof="0" dirty="0"/>
              <a:t>11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0A4EF28-DF21-B701-7DF4-AA733125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Report writing : General remarks</a:t>
            </a:r>
          </a:p>
        </p:txBody>
      </p:sp>
    </p:spTree>
    <p:extLst>
      <p:ext uri="{BB962C8B-B14F-4D97-AF65-F5344CB8AC3E}">
        <p14:creationId xmlns:p14="http://schemas.microsoft.com/office/powerpoint/2010/main" val="588453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B7DF-C816-5046-BA15-AE74175F7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BB0A0C6-86E4-4BBF-CA77-B656A02CF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921065"/>
            <a:ext cx="8959850" cy="5324288"/>
          </a:xfrm>
        </p:spPr>
        <p:txBody>
          <a:bodyPr/>
          <a:lstStyle/>
          <a:p>
            <a:r>
              <a:rPr lang="en-US" dirty="0"/>
              <a:t>This is also evaluated in these lab sessions (expecting better reports in Lab 2)</a:t>
            </a:r>
          </a:p>
          <a:p>
            <a:pPr lvl="1"/>
            <a:r>
              <a:rPr lang="en-US" b="1" dirty="0"/>
              <a:t>Part of the points are given on the quality of the report</a:t>
            </a:r>
            <a:endParaRPr lang="en-US" dirty="0"/>
          </a:p>
          <a:p>
            <a:r>
              <a:rPr lang="en-US" b="1" dirty="0"/>
              <a:t>Preferably use LaTeX for the report </a:t>
            </a:r>
            <a:r>
              <a:rPr lang="en-US" dirty="0"/>
              <a:t>(in science everyone uses LaTeX so you need to learn it at some point).</a:t>
            </a:r>
            <a:r>
              <a:rPr lang="en-US" dirty="0">
                <a:solidFill>
                  <a:srgbClr val="FF0000"/>
                </a:solidFill>
              </a:rPr>
              <a:t> EXTRA POINT IF YOU DO IT WITH LATEX (check Overleaf)</a:t>
            </a:r>
            <a:endParaRPr lang="en-US" dirty="0"/>
          </a:p>
          <a:p>
            <a:pPr lvl="1"/>
            <a:r>
              <a:rPr lang="en-US" dirty="0"/>
              <a:t>If not, please at least </a:t>
            </a:r>
            <a:r>
              <a:rPr lang="en-US" b="1" dirty="0"/>
              <a:t>keep a consistent font </a:t>
            </a:r>
            <a:r>
              <a:rPr lang="en-US" dirty="0"/>
              <a:t>across the report</a:t>
            </a:r>
          </a:p>
          <a:p>
            <a:pPr lvl="1"/>
            <a:r>
              <a:rPr lang="en-US" b="1" dirty="0"/>
              <a:t>Do not include screenshots </a:t>
            </a:r>
            <a:r>
              <a:rPr lang="en-US" dirty="0"/>
              <a:t>(of equations for example)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E49F220-B5E0-F806-D204-CDAF0DA99C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noProof="0" dirty="0"/>
              <a:t>11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75B332C-6F26-5518-2DDE-74D3FD60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Report writing : General remarks</a:t>
            </a:r>
          </a:p>
        </p:txBody>
      </p:sp>
    </p:spTree>
    <p:extLst>
      <p:ext uri="{BB962C8B-B14F-4D97-AF65-F5344CB8AC3E}">
        <p14:creationId xmlns:p14="http://schemas.microsoft.com/office/powerpoint/2010/main" val="1244688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98CBF-4C9A-CA6A-6B7E-A901A9353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1B775A9-1B90-14CC-B497-697AE4E44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921065"/>
            <a:ext cx="8959850" cy="5324288"/>
          </a:xfrm>
        </p:spPr>
        <p:txBody>
          <a:bodyPr/>
          <a:lstStyle/>
          <a:p>
            <a:r>
              <a:rPr lang="en-US" dirty="0"/>
              <a:t>This is also evaluated in these lab sessions (expecting better reports in Lab 2)</a:t>
            </a:r>
          </a:p>
          <a:p>
            <a:pPr lvl="1"/>
            <a:r>
              <a:rPr lang="en-US" b="1" dirty="0"/>
              <a:t>Part of the points are given on the quality of the report</a:t>
            </a:r>
            <a:endParaRPr lang="en-US" dirty="0"/>
          </a:p>
          <a:p>
            <a:r>
              <a:rPr lang="en-US" b="1" dirty="0"/>
              <a:t>Preferably use LaTeX for the report </a:t>
            </a:r>
            <a:r>
              <a:rPr lang="en-US" dirty="0"/>
              <a:t>(in science everyone uses LaTeX so you need to learn it at some point). </a:t>
            </a:r>
            <a:r>
              <a:rPr lang="en-US" dirty="0">
                <a:solidFill>
                  <a:srgbClr val="FF0000"/>
                </a:solidFill>
              </a:rPr>
              <a:t>EXTRA POINT IF YOU DO IT WITH LATEX (check Overleaf)</a:t>
            </a:r>
          </a:p>
          <a:p>
            <a:pPr lvl="1"/>
            <a:r>
              <a:rPr lang="en-US" dirty="0"/>
              <a:t>If not, please at least </a:t>
            </a:r>
            <a:r>
              <a:rPr lang="en-US" b="1" dirty="0"/>
              <a:t>keep a consistent font </a:t>
            </a:r>
            <a:r>
              <a:rPr lang="en-US" dirty="0"/>
              <a:t>across the report</a:t>
            </a:r>
          </a:p>
          <a:p>
            <a:pPr lvl="1"/>
            <a:r>
              <a:rPr lang="en-US" b="1" dirty="0"/>
              <a:t>Do not include screenshots </a:t>
            </a:r>
            <a:r>
              <a:rPr lang="en-US" dirty="0"/>
              <a:t>(of equations for example)</a:t>
            </a:r>
          </a:p>
          <a:p>
            <a:pPr marL="271463" lvl="1" indent="0">
              <a:buNone/>
            </a:pPr>
            <a:endParaRPr lang="en-US" dirty="0"/>
          </a:p>
          <a:p>
            <a:r>
              <a:rPr lang="en-US" dirty="0"/>
              <a:t>You have exactly </a:t>
            </a:r>
            <a:r>
              <a:rPr lang="en-US" b="1" dirty="0"/>
              <a:t>one week to submit </a:t>
            </a:r>
            <a:r>
              <a:rPr lang="en-US" dirty="0"/>
              <a:t>your results on Aula Global</a:t>
            </a:r>
          </a:p>
          <a:p>
            <a:pPr lvl="1"/>
            <a:r>
              <a:rPr lang="en-US" dirty="0"/>
              <a:t>Submission instructions are given there, please follow them</a:t>
            </a:r>
          </a:p>
          <a:p>
            <a:pPr lvl="1"/>
            <a:r>
              <a:rPr lang="en-US" dirty="0"/>
              <a:t>Do not include your code in the report (apart in a separate MATLAB file) </a:t>
            </a:r>
          </a:p>
          <a:p>
            <a:pPr lvl="2"/>
            <a:r>
              <a:rPr lang="en-US" dirty="0"/>
              <a:t>Also, should run directly and produce the plots presented in the report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552111D-12AF-3B0D-AD6C-8CE76D1EE2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noProof="0" dirty="0"/>
              <a:t>11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CBB3D3D-6D75-F419-365B-9E88100A5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Report writing : General remarks</a:t>
            </a:r>
          </a:p>
        </p:txBody>
      </p:sp>
    </p:spTree>
    <p:extLst>
      <p:ext uri="{BB962C8B-B14F-4D97-AF65-F5344CB8AC3E}">
        <p14:creationId xmlns:p14="http://schemas.microsoft.com/office/powerpoint/2010/main" val="1104927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FE62D-0B1C-BEFD-2A30-AD15E2A5A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A447AB-016F-DB34-D260-112E8DC7F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>
                <a:solidFill>
                  <a:schemeClr val="bg1">
                    <a:lumMod val="85000"/>
                  </a:schemeClr>
                </a:solidFill>
              </a:rPr>
              <a:t>How to write a scientific report</a:t>
            </a:r>
          </a:p>
          <a:p>
            <a:pPr lvl="1"/>
            <a:r>
              <a:rPr lang="en-US" noProof="0" dirty="0">
                <a:solidFill>
                  <a:schemeClr val="bg1">
                    <a:lumMod val="85000"/>
                  </a:schemeClr>
                </a:solidFill>
              </a:rPr>
              <a:t>Structure</a:t>
            </a:r>
          </a:p>
          <a:p>
            <a:pPr lvl="1"/>
            <a:r>
              <a:rPr lang="en-US" noProof="0" dirty="0">
                <a:solidFill>
                  <a:schemeClr val="bg1">
                    <a:lumMod val="85000"/>
                  </a:schemeClr>
                </a:solidFill>
              </a:rPr>
              <a:t>How to present your results</a:t>
            </a:r>
          </a:p>
          <a:p>
            <a:pPr lvl="1"/>
            <a:r>
              <a:rPr lang="en-US" noProof="0" dirty="0">
                <a:solidFill>
                  <a:schemeClr val="bg1">
                    <a:lumMod val="85000"/>
                  </a:schemeClr>
                </a:solidFill>
              </a:rPr>
              <a:t>General remarks</a:t>
            </a:r>
          </a:p>
          <a:p>
            <a:endParaRPr lang="en-US" noProof="0" dirty="0"/>
          </a:p>
          <a:p>
            <a:r>
              <a:rPr lang="en-US" b="1" noProof="0" dirty="0"/>
              <a:t>Problem of particle connected to a spool</a:t>
            </a:r>
          </a:p>
          <a:p>
            <a:pPr lvl="1"/>
            <a:r>
              <a:rPr lang="en-US" noProof="0" dirty="0"/>
              <a:t>Basic </a:t>
            </a:r>
            <a:r>
              <a:rPr lang="en-US" noProof="0" dirty="0" err="1"/>
              <a:t>Matlab</a:t>
            </a:r>
            <a:r>
              <a:rPr lang="en-US" noProof="0" dirty="0"/>
              <a:t> session on ode45</a:t>
            </a:r>
          </a:p>
          <a:p>
            <a:pPr lvl="1"/>
            <a:r>
              <a:rPr lang="en-US" noProof="0" dirty="0"/>
              <a:t>Reminder of the problem </a:t>
            </a:r>
          </a:p>
          <a:p>
            <a:pPr lvl="1"/>
            <a:r>
              <a:rPr lang="en-US" dirty="0"/>
              <a:t>M</a:t>
            </a:r>
            <a:r>
              <a:rPr lang="en-US" noProof="0" dirty="0" err="1"/>
              <a:t>ain</a:t>
            </a:r>
            <a:r>
              <a:rPr lang="en-US" noProof="0" dirty="0"/>
              <a:t> analytical solutions you need today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C8D227-4C45-FE6B-B25E-810D010922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0E5A4-1032-4786-A9BB-359A429A9129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93CFFC-A9AF-17DC-E91E-1414622B7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569686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s-ES" dirty="0" err="1"/>
              <a:t>Integrate</a:t>
            </a:r>
            <a:r>
              <a:rPr lang="es-ES" dirty="0"/>
              <a:t> simple </a:t>
            </a:r>
            <a:r>
              <a:rPr lang="es-ES" b="1" dirty="0" err="1"/>
              <a:t>ODEs</a:t>
            </a:r>
            <a:r>
              <a:rPr lang="es-ES" dirty="0"/>
              <a:t> in </a:t>
            </a:r>
            <a:r>
              <a:rPr lang="es-ES" b="1" dirty="0"/>
              <a:t>MATLAB</a:t>
            </a:r>
            <a:endParaRPr lang="es-ES" dirty="0"/>
          </a:p>
          <a:p>
            <a:pPr lvl="1"/>
            <a:r>
              <a:rPr lang="es-ES" dirty="0" err="1"/>
              <a:t>Harmonic</a:t>
            </a:r>
            <a:r>
              <a:rPr lang="es-ES" dirty="0"/>
              <a:t> </a:t>
            </a:r>
            <a:r>
              <a:rPr lang="es-ES" dirty="0" err="1"/>
              <a:t>Oscillator</a:t>
            </a:r>
            <a:endParaRPr lang="es-ES" b="1" dirty="0"/>
          </a:p>
          <a:p>
            <a:pPr lvl="1"/>
            <a:r>
              <a:rPr lang="es-ES" dirty="0" err="1"/>
              <a:t>Parabolic</a:t>
            </a:r>
            <a:r>
              <a:rPr lang="es-ES" dirty="0"/>
              <a:t> </a:t>
            </a:r>
            <a:r>
              <a:rPr lang="es-ES" dirty="0" err="1"/>
              <a:t>trajectory</a:t>
            </a: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0E5A4-1032-4786-A9BB-359A429A9129}" type="slidenum">
              <a:rPr lang="es-ES" smtClean="0"/>
              <a:pPr/>
              <a:t>19</a:t>
            </a:fld>
            <a:endParaRPr lang="es-E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Basics</a:t>
            </a:r>
          </a:p>
        </p:txBody>
      </p:sp>
    </p:spTree>
    <p:extLst>
      <p:ext uri="{BB962C8B-B14F-4D97-AF65-F5344CB8AC3E}">
        <p14:creationId xmlns:p14="http://schemas.microsoft.com/office/powerpoint/2010/main" val="1792364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C405E-297A-BE39-A019-08C8A9ED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D0ABFC8-6ABB-68E0-D8A3-519BF0DDC0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4150" y="967009"/>
                <a:ext cx="8775700" cy="5232400"/>
              </a:xfrm>
            </p:spPr>
            <p:txBody>
              <a:bodyPr/>
              <a:lstStyle/>
              <a:p>
                <a:r>
                  <a:rPr lang="it-IT" dirty="0"/>
                  <a:t>Particle </a:t>
                </a:r>
                <a:r>
                  <a:rPr lang="it-IT" dirty="0" err="1"/>
                  <a:t>attached</a:t>
                </a:r>
                <a:r>
                  <a:rPr lang="it-IT" dirty="0"/>
                  <a:t> to a spring with </a:t>
                </a:r>
                <a:r>
                  <a:rPr lang="it-IT" dirty="0" err="1"/>
                  <a:t>elastic</a:t>
                </a:r>
                <a:r>
                  <a:rPr lang="it-IT" dirty="0"/>
                  <a:t> </a:t>
                </a:r>
                <a:r>
                  <a:rPr lang="it-IT" dirty="0" err="1"/>
                  <a:t>constant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connected</a:t>
                </a:r>
                <a:r>
                  <a:rPr lang="it-IT" dirty="0"/>
                  <a:t> to a </a:t>
                </a:r>
                <a:r>
                  <a:rPr lang="it-IT" dirty="0" err="1"/>
                  <a:t>wall</a:t>
                </a:r>
                <a:r>
                  <a:rPr lang="it-IT" dirty="0"/>
                  <a:t>. Spring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dirty="0" err="1"/>
                  <a:t>at</a:t>
                </a:r>
                <a:r>
                  <a:rPr lang="it-IT" dirty="0"/>
                  <a:t> </a:t>
                </a:r>
                <a:r>
                  <a:rPr lang="it-IT" dirty="0" err="1"/>
                  <a:t>rest</a:t>
                </a:r>
                <a:r>
                  <a:rPr lang="it-IT" dirty="0"/>
                  <a:t> for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</m:oMath>
                </a14:m>
                <a:r>
                  <a:rPr lang="it-IT" dirty="0"/>
                  <a:t>.</a:t>
                </a:r>
                <a:br>
                  <a:rPr lang="it-IT" dirty="0"/>
                </a:br>
                <a:r>
                  <a:rPr lang="it-IT" dirty="0"/>
                  <a:t>At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it-IT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it-IT" dirty="0"/>
                  <a:t>				Hook’s Law : </a:t>
                </a:r>
              </a:p>
              <a:p>
                <a:pPr lvl="5"/>
                <a:r>
                  <a:rPr lang="it-IT" dirty="0"/>
                  <a:t>			                        </a:t>
                </a:r>
                <a14:m>
                  <m:oMath xmlns:m="http://schemas.openxmlformats.org/officeDocument/2006/math">
                    <m:r>
                      <a:rPr lang="es-ES" b="0" i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ES" b="0" i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s-ES" b="0" i="0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</m:s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it-IT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</m:e>
                    </m:d>
                  </m:oMath>
                </a14:m>
                <a:endParaRPr lang="it-IT" dirty="0"/>
              </a:p>
              <a:p>
                <a:pPr lvl="5"/>
                <a:r>
                  <a:rPr lang="it-IT" dirty="0"/>
                  <a:t>				                   and</a:t>
                </a:r>
              </a:p>
              <a:p>
                <a:pPr lvl="5"/>
                <a:r>
                  <a:rPr lang="it-IT" dirty="0"/>
                  <a:t>			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̈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</m:s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dirty="0"/>
                  <a:t>       </a:t>
                </a:r>
                <a:r>
                  <a:rPr lang="it-IT" dirty="0">
                    <a:sym typeface="Wingdings" panose="05000000000000000000" pitchFamily="2" charset="2"/>
                  </a:rPr>
                  <a:t>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sup>
                    </m:sSup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𝑒𝑞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it-IT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func>
                      <m:funcPr>
                        <m:ctrlPr>
                          <a:rPr lang="it-IT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𝜔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</m:d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  <m:func>
                          <m:funcPr>
                            <m:ctrlPr>
                              <a:rPr lang="it-IT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𝜔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it-IT" dirty="0"/>
              </a:p>
              <a:p>
                <a:r>
                  <a:rPr lang="it-IT" dirty="0" err="1"/>
                  <a:t>ICs</a:t>
                </a:r>
                <a:r>
                  <a:rPr lang="it-IT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,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  <m:d>
                      <m:d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r>
                  <a:rPr lang="it-IT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sup>
                    </m:sSup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𝑒𝑞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𝑒𝑞</m:t>
                            </m:r>
                          </m:sub>
                        </m:sSub>
                      </m:e>
                    </m:d>
                    <m:func>
                      <m:funcPr>
                        <m:ctrlPr>
                          <a:rPr lang="it-IT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𝜔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D0ABFC8-6ABB-68E0-D8A3-519BF0DDC0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150" y="967009"/>
                <a:ext cx="8775700" cy="5232400"/>
              </a:xfrm>
              <a:blipFill>
                <a:blip r:embed="rId2"/>
                <a:stretch>
                  <a:fillRect l="-764" t="-699" r="-417" b="-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6238C6-84B9-4051-AFA0-0120456DB7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0E5A4-1032-4786-A9BB-359A429A9129}" type="slidenum">
              <a:rPr lang="es-ES" smtClean="0"/>
              <a:pPr/>
              <a:t>20</a:t>
            </a:fld>
            <a:endParaRPr lang="es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720C65-49CF-AC53-9581-A1EEF8AFB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 1: Harmonic Oscillator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C6CAD9B-D75B-BC2D-B092-471521A6A025}"/>
              </a:ext>
            </a:extLst>
          </p:cNvPr>
          <p:cNvCxnSpPr>
            <a:cxnSpLocks/>
          </p:cNvCxnSpPr>
          <p:nvPr/>
        </p:nvCxnSpPr>
        <p:spPr bwMode="auto">
          <a:xfrm>
            <a:off x="1682260" y="3018449"/>
            <a:ext cx="54318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BE546F-DB49-7907-1EA7-995894A584FF}"/>
              </a:ext>
            </a:extLst>
          </p:cNvPr>
          <p:cNvCxnSpPr>
            <a:cxnSpLocks/>
          </p:cNvCxnSpPr>
          <p:nvPr/>
        </p:nvCxnSpPr>
        <p:spPr bwMode="auto">
          <a:xfrm rot="5400000" flipV="1">
            <a:off x="1448645" y="2866179"/>
            <a:ext cx="0" cy="118777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2ACD534-734D-7B1F-D0F0-8267C73A711A}"/>
              </a:ext>
            </a:extLst>
          </p:cNvPr>
          <p:cNvSpPr/>
          <p:nvPr/>
        </p:nvSpPr>
        <p:spPr bwMode="auto">
          <a:xfrm>
            <a:off x="1576333" y="2905716"/>
            <a:ext cx="150827" cy="131974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64" charset="-128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DE3B543-CBF0-3188-72B5-4D47C9334232}"/>
              </a:ext>
            </a:extLst>
          </p:cNvPr>
          <p:cNvCxnSpPr>
            <a:cxnSpLocks/>
            <a:endCxn id="15" idx="4"/>
          </p:cNvCxnSpPr>
          <p:nvPr/>
        </p:nvCxnSpPr>
        <p:spPr bwMode="auto">
          <a:xfrm flipV="1">
            <a:off x="1651746" y="3037690"/>
            <a:ext cx="1" cy="42237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8142A5-0B27-C0DF-39AF-10DC28B31274}"/>
                  </a:ext>
                </a:extLst>
              </p:cNvPr>
              <p:cNvSpPr txBox="1"/>
              <p:nvPr/>
            </p:nvSpPr>
            <p:spPr>
              <a:xfrm>
                <a:off x="1916451" y="3550388"/>
                <a:ext cx="3337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ac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8142A5-0B27-C0DF-39AF-10DC28B31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6451" y="3550388"/>
                <a:ext cx="333746" cy="369332"/>
              </a:xfrm>
              <a:prstGeom prst="rect">
                <a:avLst/>
              </a:prstGeom>
              <a:blipFill>
                <a:blip r:embed="rId3"/>
                <a:stretch>
                  <a:fillRect t="-4918" r="-327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B16BD6B-DC21-1EFE-FB6C-D63CE027AB54}"/>
                  </a:ext>
                </a:extLst>
              </p:cNvPr>
              <p:cNvSpPr txBox="1"/>
              <p:nvPr/>
            </p:nvSpPr>
            <p:spPr>
              <a:xfrm>
                <a:off x="527898" y="3408460"/>
                <a:ext cx="4099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B16BD6B-DC21-1EFE-FB6C-D63CE027A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98" y="3408460"/>
                <a:ext cx="40992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7BF8E28-2AF5-C192-0A08-7BF7F231D882}"/>
                  </a:ext>
                </a:extLst>
              </p:cNvPr>
              <p:cNvSpPr txBox="1"/>
              <p:nvPr/>
            </p:nvSpPr>
            <p:spPr>
              <a:xfrm>
                <a:off x="1428601" y="3511674"/>
                <a:ext cx="4773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7BF8E28-2AF5-C192-0A08-7BF7F231D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601" y="3511674"/>
                <a:ext cx="47731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88633B5-7744-52A0-2B6B-B22295C53FF5}"/>
                  </a:ext>
                </a:extLst>
              </p:cNvPr>
              <p:cNvSpPr txBox="1"/>
              <p:nvPr/>
            </p:nvSpPr>
            <p:spPr>
              <a:xfrm>
                <a:off x="1774294" y="2461594"/>
                <a:ext cx="4971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it-IT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88633B5-7744-52A0-2B6B-B22295C53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294" y="2461594"/>
                <a:ext cx="497187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9B7A4F67-44A9-382A-84F7-057D9C322F87}"/>
              </a:ext>
            </a:extLst>
          </p:cNvPr>
          <p:cNvSpPr/>
          <p:nvPr/>
        </p:nvSpPr>
        <p:spPr bwMode="auto">
          <a:xfrm>
            <a:off x="155544" y="5769896"/>
            <a:ext cx="5608943" cy="55877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6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069011-232C-8D11-0519-3B5934A4C0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756" y="2646260"/>
            <a:ext cx="764174" cy="68218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DFD41B-2967-244D-F58F-C1FAF14286AB}"/>
              </a:ext>
            </a:extLst>
          </p:cNvPr>
          <p:cNvCxnSpPr>
            <a:cxnSpLocks/>
          </p:cNvCxnSpPr>
          <p:nvPr/>
        </p:nvCxnSpPr>
        <p:spPr bwMode="auto">
          <a:xfrm flipV="1">
            <a:off x="854756" y="2272290"/>
            <a:ext cx="0" cy="118777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BFA1C4-7134-AC3F-3D69-8511F533BD35}"/>
                  </a:ext>
                </a:extLst>
              </p:cNvPr>
              <p:cNvSpPr txBox="1"/>
              <p:nvPr/>
            </p:nvSpPr>
            <p:spPr>
              <a:xfrm>
                <a:off x="1060866" y="2424318"/>
                <a:ext cx="3821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BFA1C4-7134-AC3F-3D69-8511F533B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66" y="2424318"/>
                <a:ext cx="38215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B58B65-3B79-3C1D-4F5F-6930C5910C8B}"/>
              </a:ext>
            </a:extLst>
          </p:cNvPr>
          <p:cNvCxnSpPr>
            <a:cxnSpLocks/>
          </p:cNvCxnSpPr>
          <p:nvPr/>
        </p:nvCxnSpPr>
        <p:spPr bwMode="auto">
          <a:xfrm flipV="1">
            <a:off x="1260958" y="3019427"/>
            <a:ext cx="1" cy="42237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1269AE1-D415-CB0E-9E3F-5249ADCE1D54}"/>
                  </a:ext>
                </a:extLst>
              </p:cNvPr>
              <p:cNvSpPr txBox="1"/>
              <p:nvPr/>
            </p:nvSpPr>
            <p:spPr>
              <a:xfrm>
                <a:off x="1027472" y="3457707"/>
                <a:ext cx="576953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1269AE1-D415-CB0E-9E3F-5249ADCE1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472" y="3457707"/>
                <a:ext cx="576953" cy="390748"/>
              </a:xfrm>
              <a:prstGeom prst="rect">
                <a:avLst/>
              </a:prstGeom>
              <a:blipFill>
                <a:blip r:embed="rId9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5294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78D1-F1FF-5E6C-310B-E2572DD7C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A69FE2-A88E-7BA7-3940-FCF397E44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967009"/>
            <a:ext cx="8775700" cy="5232400"/>
          </a:xfrm>
        </p:spPr>
        <p:txBody>
          <a:bodyPr/>
          <a:lstStyle/>
          <a:p>
            <a:r>
              <a:rPr lang="it-IT" dirty="0" err="1"/>
              <a:t>Analytical</a:t>
            </a:r>
            <a:r>
              <a:rPr lang="it-IT" dirty="0"/>
              <a:t> </a:t>
            </a:r>
            <a:r>
              <a:rPr lang="it-IT" dirty="0" err="1"/>
              <a:t>solution</a:t>
            </a:r>
            <a:r>
              <a:rPr lang="it-IT" dirty="0"/>
              <a:t>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A78E0A-7663-5163-FD3C-B75B9F3130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0E5A4-1032-4786-A9BB-359A429A9129}" type="slidenum">
              <a:rPr lang="es-ES" smtClean="0"/>
              <a:pPr/>
              <a:t>21</a:t>
            </a:fld>
            <a:endParaRPr lang="es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42A76C-9737-8315-4A52-C2721663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 1: Harmonic Oscillator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1014F5D-342C-1E8E-989A-6E23011E7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567" y="1586458"/>
            <a:ext cx="5859625" cy="439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029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D6090-2C62-6BE0-4802-9A8507EF6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D2117B8-28C2-01D3-BD0C-E1767E05FE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4150" y="967009"/>
                <a:ext cx="8775700" cy="5232400"/>
              </a:xfrm>
            </p:spPr>
            <p:txBody>
              <a:bodyPr/>
              <a:lstStyle/>
              <a:p>
                <a:r>
                  <a:rPr lang="it-IT" dirty="0"/>
                  <a:t>Same problem, but </a:t>
                </a:r>
                <a:r>
                  <a:rPr lang="it-IT" dirty="0" err="1"/>
                  <a:t>numerically</a:t>
                </a:r>
                <a:endParaRPr lang="it-IT" dirty="0"/>
              </a:p>
              <a:p>
                <a:pPr lvl="1"/>
                <a:r>
                  <a:rPr lang="it-IT" dirty="0"/>
                  <a:t>We </a:t>
                </a:r>
                <a:r>
                  <a:rPr lang="it-IT" dirty="0" err="1"/>
                  <a:t>will</a:t>
                </a:r>
                <a:r>
                  <a:rPr lang="it-IT" dirty="0"/>
                  <a:t> use </a:t>
                </a:r>
                <a:r>
                  <a:rPr lang="it-IT" b="1" dirty="0"/>
                  <a:t>ode45</a:t>
                </a:r>
              </a:p>
              <a:p>
                <a:pPr lvl="1"/>
                <a:endParaRPr lang="it-IT" dirty="0"/>
              </a:p>
              <a:p>
                <a:r>
                  <a:rPr lang="it-IT" dirty="0" err="1"/>
                  <a:t>MATLAB’s</a:t>
                </a:r>
                <a:r>
                  <a:rPr lang="it-IT" dirty="0"/>
                  <a:t> ode45 </a:t>
                </a:r>
                <a:r>
                  <a:rPr lang="it-IT" b="1" dirty="0" err="1"/>
                  <a:t>cannot</a:t>
                </a:r>
                <a:r>
                  <a:rPr lang="it-IT" b="1" dirty="0"/>
                  <a:t> </a:t>
                </a:r>
                <a:r>
                  <a:rPr lang="it-IT" dirty="0"/>
                  <a:t>integrate directly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̇"/>
                            <m:ctrlP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</m:oMath>
                </a14:m>
                <a:endParaRPr lang="it-IT" b="1" dirty="0"/>
              </a:p>
              <a:p>
                <a:pPr lvl="1"/>
                <a:r>
                  <a:rPr lang="it-IT" dirty="0" err="1"/>
                  <a:t>Define</a:t>
                </a:r>
                <a:r>
                  <a:rPr lang="it-IT" dirty="0"/>
                  <a:t> </a:t>
                </a:r>
                <a:r>
                  <a:rPr lang="it-IT" b="1" dirty="0"/>
                  <a:t>state </a:t>
                </a:r>
                <a:r>
                  <a:rPr lang="it-IT" b="1" dirty="0" err="1"/>
                  <a:t>vector</a:t>
                </a:r>
                <a:r>
                  <a:rPr lang="it-IT" b="1" dirty="0"/>
                  <a:t>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</m:s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</m:sSup>
                      </m:e>
                    </m:d>
                  </m:oMath>
                </a14:m>
                <a:endParaRPr lang="it-IT" dirty="0"/>
              </a:p>
              <a:p>
                <a:pPr lvl="1"/>
                <a:r>
                  <a:rPr lang="it-IT" dirty="0"/>
                  <a:t>We need to solve 2 </a:t>
                </a:r>
                <a:r>
                  <a:rPr lang="it-IT" dirty="0" err="1"/>
                  <a:t>ODEs</a:t>
                </a:r>
                <a:r>
                  <a:rPr lang="it-IT" dirty="0"/>
                  <a:t> </a:t>
                </a:r>
                <a:r>
                  <a:rPr lang="it-IT" dirty="0" err="1"/>
                  <a:t>simultaneously</a:t>
                </a:r>
                <a:r>
                  <a:rPr lang="it-IT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it-IT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it-IT" dirty="0"/>
              </a:p>
              <a:p>
                <a:r>
                  <a:rPr lang="it-IT" dirty="0"/>
                  <a:t>In </a:t>
                </a:r>
                <a:r>
                  <a:rPr lang="it-IT" dirty="0" err="1"/>
                  <a:t>our</a:t>
                </a:r>
                <a:r>
                  <a:rPr lang="it-IT" dirty="0"/>
                  <a:t> case,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</m:s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;                        </m:t>
                        </m:r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</m:s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it-IT" b="0" dirty="0"/>
              </a:p>
              <a:p>
                <a:pPr lvl="1"/>
                <a:endParaRPr lang="it-IT" b="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p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</m:s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𝑿</m:t>
                        </m:r>
                        <m:d>
                          <m:dPr>
                            <m:ctrlP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;         </m:t>
                        </m:r>
                        <m:sSup>
                          <m:sSupPr>
                            <m:ctrlP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̈"/>
                                <m:ctrlP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p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</m:s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p>
                            </m:sSup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𝑒𝑞</m:t>
                                </m:r>
                              </m:sub>
                            </m:sSub>
                          </m:e>
                        </m:d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𝑒𝑞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it-IT" b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D2117B8-28C2-01D3-BD0C-E1767E05FE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150" y="967009"/>
                <a:ext cx="8775700" cy="5232400"/>
              </a:xfrm>
              <a:blipFill>
                <a:blip r:embed="rId2"/>
                <a:stretch>
                  <a:fillRect l="-764" t="-6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8CE3DA-771C-CED3-A78A-520F1DE13D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0E5A4-1032-4786-A9BB-359A429A9129}" type="slidenum">
              <a:rPr lang="es-ES" smtClean="0"/>
              <a:pPr/>
              <a:t>22</a:t>
            </a:fld>
            <a:endParaRPr lang="es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A4E999-4BF2-1994-1BC2-46AAB6304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Exercise</a:t>
            </a:r>
            <a:r>
              <a:rPr lang="it-IT" dirty="0"/>
              <a:t> 1: </a:t>
            </a:r>
            <a:r>
              <a:rPr lang="it-IT" dirty="0" err="1"/>
              <a:t>Harmonic</a:t>
            </a:r>
            <a:r>
              <a:rPr lang="it-IT" dirty="0"/>
              <a:t> </a:t>
            </a:r>
            <a:r>
              <a:rPr lang="it-IT" dirty="0" err="1"/>
              <a:t>Oscillator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41080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8A58E-4C8A-199A-8470-538A5DB18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E2EED0-6942-AE1B-F651-283491855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967009"/>
            <a:ext cx="8775700" cy="5232400"/>
          </a:xfrm>
        </p:spPr>
        <p:txBody>
          <a:bodyPr/>
          <a:lstStyle/>
          <a:p>
            <a:r>
              <a:rPr lang="it-IT" dirty="0" err="1"/>
              <a:t>Define</a:t>
            </a:r>
            <a:r>
              <a:rPr lang="it-IT" b="1" dirty="0"/>
              <a:t> </a:t>
            </a:r>
            <a:r>
              <a:rPr lang="it-IT" b="1" dirty="0" err="1"/>
              <a:t>function</a:t>
            </a:r>
            <a:r>
              <a:rPr lang="it-IT" b="1" dirty="0"/>
              <a:t> </a:t>
            </a:r>
            <a:r>
              <a:rPr lang="it-IT" dirty="0" err="1"/>
              <a:t>Xdot</a:t>
            </a:r>
            <a:r>
              <a:rPr lang="it-IT" dirty="0"/>
              <a:t> = </a:t>
            </a:r>
            <a:r>
              <a:rPr lang="it-IT" b="1" dirty="0" err="1"/>
              <a:t>diffeq</a:t>
            </a:r>
            <a:r>
              <a:rPr lang="it-IT" dirty="0"/>
              <a:t>(t, X, w, </a:t>
            </a:r>
            <a:r>
              <a:rPr lang="it-IT" dirty="0" err="1"/>
              <a:t>x_eq</a:t>
            </a:r>
            <a:r>
              <a:rPr lang="it-IT" dirty="0"/>
              <a:t>)</a:t>
            </a:r>
          </a:p>
          <a:p>
            <a:pPr lvl="1"/>
            <a:r>
              <a:rPr lang="it-IT" dirty="0" err="1"/>
              <a:t>Xdot</a:t>
            </a:r>
            <a:r>
              <a:rPr lang="it-IT" dirty="0"/>
              <a:t> = [X(2);  -w^2*(X(1) – </a:t>
            </a:r>
            <a:r>
              <a:rPr lang="it-IT" dirty="0" err="1"/>
              <a:t>x_eq</a:t>
            </a:r>
            <a:r>
              <a:rPr lang="it-IT" dirty="0"/>
              <a:t>)</a:t>
            </a:r>
          </a:p>
          <a:p>
            <a:pPr lvl="1"/>
            <a:r>
              <a:rPr lang="it-IT" b="1" dirty="0"/>
              <a:t>End</a:t>
            </a:r>
          </a:p>
          <a:p>
            <a:pPr lvl="1"/>
            <a:endParaRPr lang="it-IT" b="1" dirty="0"/>
          </a:p>
          <a:p>
            <a:r>
              <a:rPr lang="it-IT" dirty="0" err="1"/>
              <a:t>Define</a:t>
            </a:r>
            <a:r>
              <a:rPr lang="it-IT" dirty="0"/>
              <a:t> </a:t>
            </a:r>
            <a:r>
              <a:rPr lang="it-IT" b="1" dirty="0"/>
              <a:t>Ics</a:t>
            </a:r>
            <a:r>
              <a:rPr lang="it-IT" dirty="0"/>
              <a:t> = [x_0;  0]</a:t>
            </a:r>
          </a:p>
          <a:p>
            <a:r>
              <a:rPr lang="it-IT" dirty="0" err="1"/>
              <a:t>Define</a:t>
            </a:r>
            <a:r>
              <a:rPr lang="it-IT" dirty="0"/>
              <a:t> </a:t>
            </a:r>
            <a:r>
              <a:rPr lang="it-IT" b="1" dirty="0" err="1"/>
              <a:t>timespan</a:t>
            </a:r>
            <a:r>
              <a:rPr lang="it-IT" dirty="0"/>
              <a:t> = 0:dt:t_end</a:t>
            </a:r>
          </a:p>
          <a:p>
            <a:pPr lvl="1"/>
            <a:endParaRPr lang="it-IT" b="1" dirty="0"/>
          </a:p>
          <a:p>
            <a:r>
              <a:rPr lang="it-IT" dirty="0"/>
              <a:t>Integrate:</a:t>
            </a:r>
          </a:p>
          <a:p>
            <a:pPr lvl="1"/>
            <a:r>
              <a:rPr lang="it-IT" dirty="0"/>
              <a:t>[</a:t>
            </a:r>
            <a:r>
              <a:rPr lang="it-IT" dirty="0" err="1"/>
              <a:t>tSol</a:t>
            </a:r>
            <a:r>
              <a:rPr lang="it-IT" dirty="0"/>
              <a:t>, </a:t>
            </a:r>
            <a:r>
              <a:rPr lang="it-IT" dirty="0" err="1"/>
              <a:t>stateSol</a:t>
            </a:r>
            <a:r>
              <a:rPr lang="it-IT" dirty="0"/>
              <a:t>] = </a:t>
            </a:r>
            <a:r>
              <a:rPr lang="it-IT" b="1" dirty="0"/>
              <a:t>ode45</a:t>
            </a:r>
            <a:r>
              <a:rPr lang="it-IT" dirty="0"/>
              <a:t>(@(t,X)  </a:t>
            </a:r>
            <a:r>
              <a:rPr lang="it-IT" b="1" dirty="0" err="1"/>
              <a:t>diffeq</a:t>
            </a:r>
            <a:r>
              <a:rPr lang="it-IT" dirty="0"/>
              <a:t>(</a:t>
            </a:r>
            <a:r>
              <a:rPr lang="it-IT" dirty="0" err="1"/>
              <a:t>t,X,k,x_eq</a:t>
            </a:r>
            <a:r>
              <a:rPr lang="it-IT" dirty="0"/>
              <a:t>), </a:t>
            </a:r>
            <a:r>
              <a:rPr lang="it-IT" dirty="0" err="1"/>
              <a:t>timespan</a:t>
            </a:r>
            <a:r>
              <a:rPr lang="it-IT" dirty="0"/>
              <a:t>, </a:t>
            </a:r>
            <a:r>
              <a:rPr lang="it-IT" dirty="0" err="1"/>
              <a:t>ICs</a:t>
            </a:r>
            <a:r>
              <a:rPr lang="it-IT" dirty="0"/>
              <a:t>)</a:t>
            </a:r>
          </a:p>
          <a:p>
            <a:pPr lvl="1"/>
            <a:endParaRPr lang="it-IT" dirty="0"/>
          </a:p>
          <a:p>
            <a:r>
              <a:rPr lang="it-IT" dirty="0" err="1"/>
              <a:t>Obtain</a:t>
            </a:r>
            <a:r>
              <a:rPr lang="it-IT" dirty="0"/>
              <a:t> </a:t>
            </a:r>
            <a:r>
              <a:rPr lang="it-IT" b="1" dirty="0"/>
              <a:t>X(1) </a:t>
            </a:r>
            <a:r>
              <a:rPr lang="it-IT" dirty="0"/>
              <a:t>= </a:t>
            </a:r>
            <a:r>
              <a:rPr lang="it-IT" dirty="0" err="1"/>
              <a:t>stateSol</a:t>
            </a:r>
            <a:r>
              <a:rPr lang="it-IT" dirty="0"/>
              <a:t>(:,1)</a:t>
            </a:r>
            <a:endParaRPr lang="it-IT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8881DC-4602-1ABF-7B72-B13C115CE6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0E5A4-1032-4786-A9BB-359A429A9129}" type="slidenum">
              <a:rPr lang="es-ES" smtClean="0"/>
              <a:pPr/>
              <a:t>23</a:t>
            </a:fld>
            <a:endParaRPr lang="es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5B9A0E-2C23-9A53-ADFB-02A4409CC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Exercise</a:t>
            </a:r>
            <a:r>
              <a:rPr lang="it-IT" dirty="0"/>
              <a:t> 1: </a:t>
            </a:r>
            <a:r>
              <a:rPr lang="it-IT" dirty="0" err="1"/>
              <a:t>Harmonic</a:t>
            </a:r>
            <a:r>
              <a:rPr lang="it-IT" dirty="0"/>
              <a:t> </a:t>
            </a:r>
            <a:r>
              <a:rPr lang="it-IT" dirty="0" err="1"/>
              <a:t>Oscillator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54893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42480-18FC-6B7C-EEFB-CAD4B1A0F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5914CB-E85C-3E8C-2E33-CCCA88DCE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967009"/>
            <a:ext cx="8775700" cy="5232400"/>
          </a:xfrm>
        </p:spPr>
        <p:txBody>
          <a:bodyPr/>
          <a:lstStyle/>
          <a:p>
            <a:r>
              <a:rPr lang="it-IT" dirty="0"/>
              <a:t>Numerical: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3EAB1F-A29E-8768-FAEA-EC460697F7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0E5A4-1032-4786-A9BB-359A429A9129}" type="slidenum">
              <a:rPr lang="es-ES" smtClean="0"/>
              <a:pPr/>
              <a:t>24</a:t>
            </a:fld>
            <a:endParaRPr lang="es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5C5884-92E4-E664-3210-9ECFFEDEF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Exercise</a:t>
            </a:r>
            <a:r>
              <a:rPr lang="it-IT" dirty="0"/>
              <a:t> 1: </a:t>
            </a:r>
            <a:r>
              <a:rPr lang="it-IT" dirty="0" err="1"/>
              <a:t>Harmonic</a:t>
            </a:r>
            <a:r>
              <a:rPr lang="it-IT" dirty="0"/>
              <a:t> </a:t>
            </a:r>
            <a:r>
              <a:rPr lang="it-IT" dirty="0" err="1"/>
              <a:t>Oscillator</a:t>
            </a:r>
            <a:endParaRPr lang="it-IT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9C8B7E5-C97C-717B-1373-93A9618ED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074" y="1606770"/>
            <a:ext cx="6125852" cy="459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58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0F2DB-75A3-B4D8-0EA4-2F3A974B3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59D2C3-32B5-ACB3-4813-0E1B6309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967009"/>
            <a:ext cx="8775700" cy="5232400"/>
          </a:xfrm>
        </p:spPr>
        <p:txBody>
          <a:bodyPr/>
          <a:lstStyle/>
          <a:p>
            <a:r>
              <a:rPr lang="it-IT" dirty="0"/>
              <a:t>Numerical vs. Analytical solution: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9E0FB8-AD6D-E9BE-7996-8299D11744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0E5A4-1032-4786-A9BB-359A429A9129}" type="slidenum">
              <a:rPr lang="es-ES" smtClean="0"/>
              <a:pPr/>
              <a:t>25</a:t>
            </a:fld>
            <a:endParaRPr lang="es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F66DB8-2346-4D30-5CD8-4EC91BA94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Exercise</a:t>
            </a:r>
            <a:r>
              <a:rPr lang="it-IT" dirty="0"/>
              <a:t> 1: </a:t>
            </a:r>
            <a:r>
              <a:rPr lang="it-IT" dirty="0" err="1"/>
              <a:t>Harmonic</a:t>
            </a:r>
            <a:r>
              <a:rPr lang="it-IT" dirty="0"/>
              <a:t> </a:t>
            </a:r>
            <a:r>
              <a:rPr lang="it-IT" dirty="0" err="1"/>
              <a:t>Oscillator</a:t>
            </a:r>
            <a:endParaRPr lang="it-I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5F775F6-64F6-0A98-72FC-12FF6CD81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970" y="1464633"/>
            <a:ext cx="5904059" cy="442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50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A6A9F-3F7B-DF99-8384-D5BF90FE3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FC9404-E078-E7EF-02E2-5220437C4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967009"/>
            <a:ext cx="8775700" cy="5232400"/>
          </a:xfrm>
        </p:spPr>
        <p:txBody>
          <a:bodyPr/>
          <a:lstStyle/>
          <a:p>
            <a:r>
              <a:rPr lang="it-IT" dirty="0" err="1"/>
              <a:t>Change</a:t>
            </a:r>
            <a:r>
              <a:rPr lang="it-IT" dirty="0"/>
              <a:t> </a:t>
            </a:r>
            <a:r>
              <a:rPr lang="it-IT" dirty="0" err="1"/>
              <a:t>tolerances</a:t>
            </a:r>
            <a:r>
              <a:rPr lang="it-IT" dirty="0"/>
              <a:t>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D1FFF-6E72-04BC-5AD2-64DE254B53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0E5A4-1032-4786-A9BB-359A429A9129}" type="slidenum">
              <a:rPr lang="es-ES" smtClean="0"/>
              <a:pPr/>
              <a:t>26</a:t>
            </a:fld>
            <a:endParaRPr lang="es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EFC78B-BB07-119F-236A-23ECE1C1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Exercise</a:t>
            </a:r>
            <a:r>
              <a:rPr lang="it-IT" dirty="0"/>
              <a:t> 1: </a:t>
            </a:r>
            <a:r>
              <a:rPr lang="it-IT" dirty="0" err="1"/>
              <a:t>Harmonic</a:t>
            </a:r>
            <a:r>
              <a:rPr lang="it-IT" dirty="0"/>
              <a:t> </a:t>
            </a:r>
            <a:r>
              <a:rPr lang="it-IT" dirty="0" err="1"/>
              <a:t>Oscillator</a:t>
            </a:r>
            <a:endParaRPr lang="it-IT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09563F9-52B3-6E61-C851-F1C9F83EB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146" y="1599491"/>
            <a:ext cx="5958665" cy="446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3135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42FA7-72AE-82BF-F66F-2FF05C64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3B20C41-20D1-C058-353E-C624B741F9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4150" y="967009"/>
                <a:ext cx="8775700" cy="5232400"/>
              </a:xfrm>
            </p:spPr>
            <p:txBody>
              <a:bodyPr/>
              <a:lstStyle/>
              <a:p>
                <a:r>
                  <a:rPr lang="it-IT" dirty="0"/>
                  <a:t>Add a constrain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it-IT" dirty="0"/>
                  <a:t>: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3B20C41-20D1-C058-353E-C624B741F9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150" y="967009"/>
                <a:ext cx="8775700" cy="5232400"/>
              </a:xfrm>
              <a:blipFill>
                <a:blip r:embed="rId2"/>
                <a:stretch>
                  <a:fillRect l="-764" t="-69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7202B-41E8-19C1-821D-719C9CDB20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0E5A4-1032-4786-A9BB-359A429A9129}" type="slidenum">
              <a:rPr lang="es-ES" smtClean="0"/>
              <a:pPr/>
              <a:t>27</a:t>
            </a:fld>
            <a:endParaRPr lang="es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7E8D0F-14F2-90F0-52A0-01433D2AC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Exercise</a:t>
            </a:r>
            <a:r>
              <a:rPr lang="it-IT" dirty="0"/>
              <a:t> 1: </a:t>
            </a:r>
            <a:r>
              <a:rPr lang="it-IT" dirty="0" err="1"/>
              <a:t>Harmonic</a:t>
            </a:r>
            <a:r>
              <a:rPr lang="it-IT" dirty="0"/>
              <a:t> </a:t>
            </a:r>
            <a:r>
              <a:rPr lang="it-IT" dirty="0" err="1"/>
              <a:t>Oscillator</a:t>
            </a:r>
            <a:endParaRPr lang="it-I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38DE09F-2CF9-B019-A6B5-0A39FF0F9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676" y="1540079"/>
            <a:ext cx="6014648" cy="450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760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3330DC-4BD2-4972-5B1F-896D100CC7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4150" y="967009"/>
                <a:ext cx="8775700" cy="5232400"/>
              </a:xfrm>
            </p:spPr>
            <p:txBody>
              <a:bodyPr/>
              <a:lstStyle/>
              <a:p>
                <a:r>
                  <a:rPr lang="it-IT" dirty="0"/>
                  <a:t>Bullet shot </a:t>
                </a:r>
                <a:r>
                  <a:rPr lang="it-IT" dirty="0" err="1"/>
                  <a:t>at</a:t>
                </a:r>
                <a:r>
                  <a:rPr lang="it-IT" dirty="0"/>
                  <a:t> angle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it-IT" dirty="0"/>
                  <a:t> with </a:t>
                </a:r>
                <a:r>
                  <a:rPr lang="it-IT" dirty="0" err="1"/>
                  <a:t>velocity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̈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it-IT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̈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it-IT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  <m:d>
                      <m:d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unc>
                      <m:funcPr>
                        <m:ctrlPr>
                          <a:rPr lang="it-IT" b="0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b="0" i="0" dirty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func>
                  </m:oMath>
                </a14:m>
                <a:r>
                  <a:rPr lang="it-IT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  <m:d>
                      <m:d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unc>
                      <m:funcPr>
                        <m:ctrlPr>
                          <a:rPr lang="it-IT" b="0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b="0" i="0" dirty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func>
                  </m:oMath>
                </a14:m>
                <a:endParaRPr lang="it-IT" dirty="0"/>
              </a:p>
              <a:p>
                <a:endParaRPr lang="it-IT" dirty="0"/>
              </a:p>
              <a:p>
                <a:r>
                  <a:rPr lang="it-IT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sup>
                    </m:sSup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it-IT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func>
                      <m:funcPr>
                        <m:ctrlPr>
                          <a:rPr lang="it-IT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cos</m:t>
                        </m:r>
                      </m:fName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𝛼</m:t>
                        </m:r>
                      </m:e>
                    </m:func>
                  </m:oMath>
                </a14:m>
                <a:endParaRPr lang="it-IT" dirty="0"/>
              </a:p>
              <a:p>
                <a:r>
                  <a:rPr lang="it-IT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sup>
                    </m:sSup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it-IT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func>
                      <m:funcPr>
                        <m:ctrlPr>
                          <a:rPr lang="it-IT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sin</m:t>
                        </m:r>
                      </m:fName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𝛼</m:t>
                        </m:r>
                      </m:e>
                    </m:func>
                    <m:r>
                      <a:rPr lang="it-IT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it-IT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/2</m:t>
                    </m:r>
                  </m:oMath>
                </a14:m>
                <a:endParaRPr lang="it-IT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3330DC-4BD2-4972-5B1F-896D100CC7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150" y="967009"/>
                <a:ext cx="8775700" cy="5232400"/>
              </a:xfrm>
              <a:blipFill>
                <a:blip r:embed="rId2"/>
                <a:stretch>
                  <a:fillRect l="-764" t="-699" b="-291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54B8A0-E421-2C63-E3AD-B5E1AB0704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0E5A4-1032-4786-A9BB-359A429A9129}" type="slidenum">
              <a:rPr lang="es-ES" smtClean="0"/>
              <a:pPr/>
              <a:t>28</a:t>
            </a:fld>
            <a:endParaRPr lang="es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66A684-AD8D-AAB1-0CF8-D00D7F45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Exercise</a:t>
            </a:r>
            <a:r>
              <a:rPr lang="it-IT" dirty="0"/>
              <a:t> 2: </a:t>
            </a:r>
            <a:r>
              <a:rPr lang="it-IT" dirty="0" err="1"/>
              <a:t>Parabolic</a:t>
            </a:r>
            <a:r>
              <a:rPr lang="it-IT" dirty="0"/>
              <a:t> </a:t>
            </a:r>
            <a:r>
              <a:rPr lang="it-IT" dirty="0" err="1"/>
              <a:t>trajectory</a:t>
            </a:r>
            <a:endParaRPr lang="it-IT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30224C1-7CC7-DEEF-0F75-35406750ED7A}"/>
              </a:ext>
            </a:extLst>
          </p:cNvPr>
          <p:cNvCxnSpPr/>
          <p:nvPr/>
        </p:nvCxnSpPr>
        <p:spPr bwMode="auto">
          <a:xfrm flipV="1">
            <a:off x="904973" y="1913641"/>
            <a:ext cx="0" cy="118777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B37E3B-FBB6-45D6-C04D-0A9ACAC54A6E}"/>
              </a:ext>
            </a:extLst>
          </p:cNvPr>
          <p:cNvCxnSpPr>
            <a:cxnSpLocks/>
          </p:cNvCxnSpPr>
          <p:nvPr/>
        </p:nvCxnSpPr>
        <p:spPr bwMode="auto">
          <a:xfrm rot="5400000" flipV="1">
            <a:off x="1498862" y="2507530"/>
            <a:ext cx="0" cy="118777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44C83C5-AF02-D453-42CC-0923822D1953}"/>
              </a:ext>
            </a:extLst>
          </p:cNvPr>
          <p:cNvSpPr/>
          <p:nvPr/>
        </p:nvSpPr>
        <p:spPr bwMode="auto">
          <a:xfrm>
            <a:off x="1366887" y="1995967"/>
            <a:ext cx="1593129" cy="1086598"/>
          </a:xfrm>
          <a:custGeom>
            <a:avLst/>
            <a:gdLst>
              <a:gd name="connsiteX0" fmla="*/ 0 w 1593129"/>
              <a:gd name="connsiteY0" fmla="*/ 605831 h 1086598"/>
              <a:gd name="connsiteX1" fmla="*/ 744717 w 1593129"/>
              <a:gd name="connsiteY1" fmla="*/ 11942 h 1086598"/>
              <a:gd name="connsiteX2" fmla="*/ 1593129 w 1593129"/>
              <a:gd name="connsiteY2" fmla="*/ 1086598 h 1086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93129" h="1086598">
                <a:moveTo>
                  <a:pt x="0" y="605831"/>
                </a:moveTo>
                <a:cubicBezTo>
                  <a:pt x="239598" y="268822"/>
                  <a:pt x="479196" y="-68186"/>
                  <a:pt x="744717" y="11942"/>
                </a:cubicBezTo>
                <a:cubicBezTo>
                  <a:pt x="1010238" y="92070"/>
                  <a:pt x="1301683" y="589334"/>
                  <a:pt x="1593129" y="1086598"/>
                </a:cubicBezTo>
              </a:path>
            </a:pathLst>
          </a:cu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64" charset="-128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7F2386D-DA31-1235-8068-34E0367B1C8D}"/>
              </a:ext>
            </a:extLst>
          </p:cNvPr>
          <p:cNvSpPr/>
          <p:nvPr/>
        </p:nvSpPr>
        <p:spPr bwMode="auto">
          <a:xfrm>
            <a:off x="1272622" y="2547067"/>
            <a:ext cx="150827" cy="131974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64" charset="-128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B4A10D-2F44-A34E-7D75-85623D03498D}"/>
              </a:ext>
            </a:extLst>
          </p:cNvPr>
          <p:cNvCxnSpPr>
            <a:cxnSpLocks/>
            <a:endCxn id="15" idx="2"/>
          </p:cNvCxnSpPr>
          <p:nvPr/>
        </p:nvCxnSpPr>
        <p:spPr bwMode="auto">
          <a:xfrm>
            <a:off x="904973" y="2613054"/>
            <a:ext cx="367649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BE5D59-F4C5-552A-0AA2-4FE4AD6BABE7}"/>
              </a:ext>
            </a:extLst>
          </p:cNvPr>
          <p:cNvCxnSpPr>
            <a:cxnSpLocks/>
            <a:endCxn id="15" idx="4"/>
          </p:cNvCxnSpPr>
          <p:nvPr/>
        </p:nvCxnSpPr>
        <p:spPr bwMode="auto">
          <a:xfrm flipV="1">
            <a:off x="1348035" y="2679041"/>
            <a:ext cx="1" cy="42237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3B55878-790E-A533-6AD9-9D753167D331}"/>
              </a:ext>
            </a:extLst>
          </p:cNvPr>
          <p:cNvCxnSpPr>
            <a:cxnSpLocks/>
          </p:cNvCxnSpPr>
          <p:nvPr/>
        </p:nvCxnSpPr>
        <p:spPr bwMode="auto">
          <a:xfrm>
            <a:off x="3564903" y="2051246"/>
            <a:ext cx="0" cy="49582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40AA6A9-8564-330A-361B-1FEC67190124}"/>
                  </a:ext>
                </a:extLst>
              </p:cNvPr>
              <p:cNvSpPr txBox="1"/>
              <p:nvPr/>
            </p:nvSpPr>
            <p:spPr>
              <a:xfrm>
                <a:off x="3612037" y="2051246"/>
                <a:ext cx="404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it-IT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40AA6A9-8564-330A-361B-1FEC67190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037" y="2051246"/>
                <a:ext cx="404278" cy="369332"/>
              </a:xfrm>
              <a:prstGeom prst="rect">
                <a:avLst/>
              </a:prstGeom>
              <a:blipFill>
                <a:blip r:embed="rId3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9280BB3-4884-666A-E428-DE5CBA9F244A}"/>
                  </a:ext>
                </a:extLst>
              </p:cNvPr>
              <p:cNvSpPr txBox="1"/>
              <p:nvPr/>
            </p:nvSpPr>
            <p:spPr>
              <a:xfrm>
                <a:off x="1925878" y="3201596"/>
                <a:ext cx="3337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ac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9280BB3-4884-666A-E428-DE5CBA9F2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878" y="3201596"/>
                <a:ext cx="333746" cy="369332"/>
              </a:xfrm>
              <a:prstGeom prst="rect">
                <a:avLst/>
              </a:prstGeom>
              <a:blipFill>
                <a:blip r:embed="rId4"/>
                <a:stretch>
                  <a:fillRect t="-4918" r="-309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AB27A70-0A2A-6863-739B-D356FC635EA2}"/>
                  </a:ext>
                </a:extLst>
              </p:cNvPr>
              <p:cNvSpPr txBox="1"/>
              <p:nvPr/>
            </p:nvSpPr>
            <p:spPr>
              <a:xfrm>
                <a:off x="537325" y="1647318"/>
                <a:ext cx="338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ac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AB27A70-0A2A-6863-739B-D356FC635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25" y="1647318"/>
                <a:ext cx="338554" cy="369332"/>
              </a:xfrm>
              <a:prstGeom prst="rect">
                <a:avLst/>
              </a:prstGeom>
              <a:blipFill>
                <a:blip r:embed="rId5"/>
                <a:stretch>
                  <a:fillRect t="-4918" r="-33929" b="-819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E40A3DA-0188-7B86-97F7-25F0BF01DE13}"/>
                  </a:ext>
                </a:extLst>
              </p:cNvPr>
              <p:cNvSpPr txBox="1"/>
              <p:nvPr/>
            </p:nvSpPr>
            <p:spPr>
              <a:xfrm>
                <a:off x="537325" y="3059668"/>
                <a:ext cx="4099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E40A3DA-0188-7B86-97F7-25F0BF01D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25" y="3059668"/>
                <a:ext cx="40992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F393EAE-C41D-5A19-FB65-52217BBDE538}"/>
                  </a:ext>
                </a:extLst>
              </p:cNvPr>
              <p:cNvSpPr txBox="1"/>
              <p:nvPr/>
            </p:nvSpPr>
            <p:spPr>
              <a:xfrm>
                <a:off x="1161927" y="3154463"/>
                <a:ext cx="4773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F393EAE-C41D-5A19-FB65-52217BBDE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927" y="3154463"/>
                <a:ext cx="47731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c 37">
            <a:extLst>
              <a:ext uri="{FF2B5EF4-FFF2-40B4-BE49-F238E27FC236}">
                <a16:creationId xmlns:a16="http://schemas.microsoft.com/office/drawing/2014/main" id="{44A2AA87-8865-B5B3-B363-D8980A345834}"/>
              </a:ext>
            </a:extLst>
          </p:cNvPr>
          <p:cNvSpPr/>
          <p:nvPr/>
        </p:nvSpPr>
        <p:spPr bwMode="auto">
          <a:xfrm>
            <a:off x="1329184" y="2405284"/>
            <a:ext cx="367646" cy="374877"/>
          </a:xfrm>
          <a:prstGeom prst="arc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6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19AF52-AAA2-46B1-8AE0-C6495206825E}"/>
                  </a:ext>
                </a:extLst>
              </p:cNvPr>
              <p:cNvSpPr txBox="1"/>
              <p:nvPr/>
            </p:nvSpPr>
            <p:spPr>
              <a:xfrm>
                <a:off x="427251" y="2398926"/>
                <a:ext cx="4789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19AF52-AAA2-46B1-8AE0-C64952068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51" y="2398926"/>
                <a:ext cx="478977" cy="369332"/>
              </a:xfrm>
              <a:prstGeom prst="rect">
                <a:avLst/>
              </a:prstGeom>
              <a:blipFill>
                <a:blip r:embed="rId8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9587986-DB29-3CF5-E983-16AA5A36B540}"/>
              </a:ext>
            </a:extLst>
          </p:cNvPr>
          <p:cNvCxnSpPr>
            <a:cxnSpLocks/>
          </p:cNvCxnSpPr>
          <p:nvPr/>
        </p:nvCxnSpPr>
        <p:spPr bwMode="auto">
          <a:xfrm flipV="1">
            <a:off x="1382696" y="2167647"/>
            <a:ext cx="302358" cy="41491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C6B6C8-4488-BA64-D49A-78B4C9DFECA9}"/>
                  </a:ext>
                </a:extLst>
              </p:cNvPr>
              <p:cNvSpPr txBox="1"/>
              <p:nvPr/>
            </p:nvSpPr>
            <p:spPr>
              <a:xfrm>
                <a:off x="1152953" y="1986698"/>
                <a:ext cx="4971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it-IT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C6B6C8-4488-BA64-D49A-78B4C9DFE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953" y="1986698"/>
                <a:ext cx="497187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C09378-2EB9-E1AF-4B73-FF124B25EE3D}"/>
              </a:ext>
            </a:extLst>
          </p:cNvPr>
          <p:cNvCxnSpPr>
            <a:cxnSpLocks/>
          </p:cNvCxnSpPr>
          <p:nvPr/>
        </p:nvCxnSpPr>
        <p:spPr bwMode="auto">
          <a:xfrm>
            <a:off x="1423449" y="2616454"/>
            <a:ext cx="367649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64CA5D8-576B-C141-A214-7B4C5353439C}"/>
                  </a:ext>
                </a:extLst>
              </p:cNvPr>
              <p:cNvSpPr txBox="1"/>
              <p:nvPr/>
            </p:nvSpPr>
            <p:spPr>
              <a:xfrm>
                <a:off x="1617565" y="2203061"/>
                <a:ext cx="393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64CA5D8-576B-C141-A214-7B4C53534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565" y="2203061"/>
                <a:ext cx="39363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A84C8371-9B47-2E67-4352-0C698F12AB71}"/>
              </a:ext>
            </a:extLst>
          </p:cNvPr>
          <p:cNvSpPr/>
          <p:nvPr/>
        </p:nvSpPr>
        <p:spPr bwMode="auto">
          <a:xfrm>
            <a:off x="155544" y="5156988"/>
            <a:ext cx="5608943" cy="130939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6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41610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79ABA-AC51-E4BB-C183-8AF34E24E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131ECC-1A76-EBF8-29FF-DDD307F24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967009"/>
            <a:ext cx="8775700" cy="5232400"/>
          </a:xfrm>
        </p:spPr>
        <p:txBody>
          <a:bodyPr/>
          <a:lstStyle/>
          <a:p>
            <a:r>
              <a:rPr lang="it-IT" dirty="0" err="1"/>
              <a:t>Analytical</a:t>
            </a:r>
            <a:r>
              <a:rPr lang="it-IT" dirty="0"/>
              <a:t> </a:t>
            </a:r>
            <a:r>
              <a:rPr lang="it-IT" dirty="0" err="1"/>
              <a:t>solution</a:t>
            </a:r>
            <a:r>
              <a:rPr lang="it-IT" dirty="0"/>
              <a:t>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D90A1F-A317-6AB0-E7D6-BA3B03020E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0E5A4-1032-4786-A9BB-359A429A9129}" type="slidenum">
              <a:rPr lang="es-ES" smtClean="0"/>
              <a:pPr/>
              <a:t>29</a:t>
            </a:fld>
            <a:endParaRPr lang="es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1DAD58-B951-6EAD-8187-5BA57B26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Exercise</a:t>
            </a:r>
            <a:r>
              <a:rPr lang="it-IT" dirty="0"/>
              <a:t> 2: </a:t>
            </a:r>
            <a:r>
              <a:rPr lang="it-IT" dirty="0" err="1"/>
              <a:t>Parabolic</a:t>
            </a:r>
            <a:r>
              <a:rPr lang="it-IT" dirty="0"/>
              <a:t> </a:t>
            </a:r>
            <a:r>
              <a:rPr lang="it-IT" dirty="0" err="1"/>
              <a:t>trajectory</a:t>
            </a:r>
            <a:endParaRPr lang="it-I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3CE5355-3F08-CF56-67CD-AB5BE66BE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225" y="1586469"/>
            <a:ext cx="5741550" cy="430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053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10742-8487-FEFE-FB31-6BCEBE840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58209B7-71EC-7A65-4F14-F0847EB9EC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4150" y="967009"/>
                <a:ext cx="8775700" cy="5232400"/>
              </a:xfrm>
            </p:spPr>
            <p:txBody>
              <a:bodyPr/>
              <a:lstStyle/>
              <a:p>
                <a:r>
                  <a:rPr lang="it-IT" b="0" dirty="0"/>
                  <a:t>Same problem</a:t>
                </a:r>
                <a:r>
                  <a:rPr lang="it-IT" b="0" i="1" dirty="0"/>
                  <a:t> </a:t>
                </a:r>
                <a:r>
                  <a:rPr lang="it-IT" b="0" dirty="0"/>
                  <a:t>as before</a:t>
                </a:r>
              </a:p>
              <a:p>
                <a:pPr lvl="1"/>
                <a:r>
                  <a:rPr lang="it-IT" dirty="0"/>
                  <a:t>Solve the system of </a:t>
                </a:r>
                <a:r>
                  <a:rPr lang="it-IT" dirty="0" err="1"/>
                  <a:t>ODEs</a:t>
                </a:r>
                <a:r>
                  <a:rPr lang="it-IT" dirty="0"/>
                  <a:t>:</a:t>
                </a:r>
                <a:endParaRPr lang="it-IT" b="0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endParaRPr lang="it-IT" dirty="0"/>
              </a:p>
              <a:p>
                <a:pPr lvl="1"/>
                <a:endParaRPr lang="it-IT" dirty="0"/>
              </a:p>
              <a:p>
                <a:r>
                  <a:rPr lang="it-IT" dirty="0"/>
                  <a:t>In </a:t>
                </a:r>
                <a:r>
                  <a:rPr lang="it-IT" dirty="0" err="1"/>
                  <a:t>our</a:t>
                </a:r>
                <a:r>
                  <a:rPr lang="it-IT" dirty="0"/>
                  <a:t> case,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</m:s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;                  </m:t>
                        </m:r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</m:s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;                    </m:t>
                        </m:r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</m:s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;            </m:t>
                        </m:r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</m:sSup>
                      </m:e>
                    </m:d>
                  </m:oMath>
                </a14:m>
                <a:endParaRPr lang="it-IT" b="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acc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p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</m:s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𝑿</m:t>
                        </m:r>
                        <m:d>
                          <m:dPr>
                            <m:ctrlP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;   </m:t>
                        </m:r>
                        <m:sSup>
                          <m:sSupPr>
                            <m:ctrlP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̇"/>
                                <m:ctrlP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p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</m:s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𝑿</m:t>
                        </m:r>
                        <m:d>
                          <m:dPr>
                            <m:ctrlP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    </m:t>
                        </m:r>
                        <m:sSup>
                          <m:sSupPr>
                            <m:ctrlPr>
                              <a:rPr lang="it-IT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̈"/>
                                <m:ctrlPr>
                                  <a:rPr lang="it-IT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p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</m:s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=0;</m:t>
                        </m:r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    </m:t>
                        </m:r>
                        <m:sSup>
                          <m:sSupPr>
                            <m:ctrlP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̈"/>
                                <m:ctrlP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p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</m:s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it-IT" b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58209B7-71EC-7A65-4F14-F0847EB9EC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150" y="967009"/>
                <a:ext cx="8775700" cy="5232400"/>
              </a:xfrm>
              <a:blipFill>
                <a:blip r:embed="rId2"/>
                <a:stretch>
                  <a:fillRect l="-764" t="-6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8EB095-D5B5-873F-748C-58FAC8FCF3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0E5A4-1032-4786-A9BB-359A429A9129}" type="slidenum">
              <a:rPr lang="es-ES" smtClean="0"/>
              <a:pPr/>
              <a:t>30</a:t>
            </a:fld>
            <a:endParaRPr lang="es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9A6999-AE0E-EE40-0113-B2ABFDA63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Exercise</a:t>
            </a:r>
            <a:r>
              <a:rPr lang="it-IT" dirty="0"/>
              <a:t> 2: </a:t>
            </a:r>
            <a:r>
              <a:rPr lang="it-IT" dirty="0" err="1"/>
              <a:t>Parabolic</a:t>
            </a:r>
            <a:r>
              <a:rPr lang="it-IT" dirty="0"/>
              <a:t> </a:t>
            </a:r>
            <a:r>
              <a:rPr lang="it-IT" dirty="0" err="1"/>
              <a:t>trajectory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57288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ADB9B-5FD1-41C0-3C2F-3EE1DB8CA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B0F2AA-C658-7EC4-6638-619A39B71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967009"/>
            <a:ext cx="8775700" cy="5232400"/>
          </a:xfrm>
        </p:spPr>
        <p:txBody>
          <a:bodyPr/>
          <a:lstStyle/>
          <a:p>
            <a:r>
              <a:rPr lang="it-IT" dirty="0" err="1"/>
              <a:t>Numerical</a:t>
            </a:r>
            <a:r>
              <a:rPr lang="it-IT" dirty="0"/>
              <a:t> vs. </a:t>
            </a:r>
            <a:r>
              <a:rPr lang="it-IT" dirty="0" err="1"/>
              <a:t>Analytical</a:t>
            </a:r>
            <a:r>
              <a:rPr lang="it-IT" dirty="0"/>
              <a:t> </a:t>
            </a:r>
            <a:r>
              <a:rPr lang="it-IT" dirty="0" err="1"/>
              <a:t>solution</a:t>
            </a:r>
            <a:r>
              <a:rPr lang="it-IT" dirty="0"/>
              <a:t>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519BF-7E6F-BB19-74BD-A51F83FE6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0E5A4-1032-4786-A9BB-359A429A9129}" type="slidenum">
              <a:rPr lang="es-ES" smtClean="0"/>
              <a:pPr/>
              <a:t>31</a:t>
            </a:fld>
            <a:endParaRPr lang="es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D8155F-B17C-E471-D22C-93FCEDA27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Exercise</a:t>
            </a:r>
            <a:r>
              <a:rPr lang="it-IT" dirty="0"/>
              <a:t> 2: </a:t>
            </a:r>
            <a:r>
              <a:rPr lang="it-IT" dirty="0" err="1"/>
              <a:t>Parabolic</a:t>
            </a:r>
            <a:r>
              <a:rPr lang="it-IT" dirty="0"/>
              <a:t> </a:t>
            </a:r>
            <a:r>
              <a:rPr lang="it-IT" dirty="0" err="1"/>
              <a:t>trajectory</a:t>
            </a:r>
            <a:endParaRPr lang="it-IT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8910B00-32B7-BF62-DB88-1D7B0290E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2" y="1340377"/>
            <a:ext cx="6481179" cy="485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3464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0D90E-7C8B-A218-D32F-3ACB0744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A8F4EF0-5190-A2C2-4888-16B3419022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4150" y="967009"/>
                <a:ext cx="8775700" cy="5232400"/>
              </a:xfrm>
            </p:spPr>
            <p:txBody>
              <a:bodyPr/>
              <a:lstStyle/>
              <a:p>
                <a:r>
                  <a:rPr lang="it-IT" dirty="0"/>
                  <a:t>Add a </a:t>
                </a:r>
                <a:r>
                  <a:rPr lang="it-IT" dirty="0" err="1"/>
                  <a:t>constraint</a:t>
                </a:r>
                <a:r>
                  <a:rPr lang="it-IT" dirty="0"/>
                  <a:t>: stop the </a:t>
                </a:r>
                <a:r>
                  <a:rPr lang="it-IT" dirty="0" err="1"/>
                  <a:t>integration</a:t>
                </a:r>
                <a:r>
                  <a:rPr lang="it-IT" dirty="0"/>
                  <a:t>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</m:oMath>
                </a14:m>
                <a:r>
                  <a:rPr lang="it-IT" dirty="0"/>
                  <a:t> reaches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it-IT" dirty="0"/>
                  <a:t> </a:t>
                </a:r>
                <a:r>
                  <a:rPr lang="it-IT" b="1" dirty="0"/>
                  <a:t>from above</a:t>
                </a:r>
                <a:r>
                  <a:rPr lang="it-IT" dirty="0"/>
                  <a:t>:</a:t>
                </a:r>
              </a:p>
              <a:p>
                <a:pPr lvl="1"/>
                <a:r>
                  <a:rPr lang="it-IT" dirty="0"/>
                  <a:t>Set </a:t>
                </a:r>
                <a:r>
                  <a:rPr lang="it-IT" dirty="0" err="1"/>
                  <a:t>direction</a:t>
                </a:r>
                <a:r>
                  <a:rPr lang="it-IT" dirty="0"/>
                  <a:t>=-1 in @stopfun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A8F4EF0-5190-A2C2-4888-16B3419022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150" y="967009"/>
                <a:ext cx="8775700" cy="5232400"/>
              </a:xfrm>
              <a:blipFill>
                <a:blip r:embed="rId2"/>
                <a:stretch>
                  <a:fillRect l="-764" t="-69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C97808-3F2A-4536-1777-22550E56B3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0E5A4-1032-4786-A9BB-359A429A9129}" type="slidenum">
              <a:rPr lang="es-ES" smtClean="0"/>
              <a:pPr/>
              <a:t>32</a:t>
            </a:fld>
            <a:endParaRPr lang="es-E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963FDF-0AFA-5DA2-513C-CE8CD2DEF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Exercise</a:t>
            </a:r>
            <a:r>
              <a:rPr lang="it-IT" dirty="0"/>
              <a:t> 2: </a:t>
            </a:r>
            <a:r>
              <a:rPr lang="it-IT" dirty="0" err="1"/>
              <a:t>Parabolic</a:t>
            </a:r>
            <a:r>
              <a:rPr lang="it-IT" dirty="0"/>
              <a:t> </a:t>
            </a:r>
            <a:r>
              <a:rPr lang="it-IT" dirty="0" err="1"/>
              <a:t>trajectory</a:t>
            </a:r>
            <a:endParaRPr lang="it-IT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238B24B-ED4F-6924-5A9D-B6108D38D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719" y="2277728"/>
            <a:ext cx="5075852" cy="380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5418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558801"/>
            <a:ext cx="7772400" cy="1968499"/>
          </a:xfrm>
        </p:spPr>
        <p:txBody>
          <a:bodyPr/>
          <a:lstStyle/>
          <a:p>
            <a:r>
              <a:rPr lang="en-US" sz="5400" noProof="0" dirty="0"/>
              <a:t>Thank you!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type="subTitle" idx="1"/>
          </p:nvPr>
        </p:nvSpPr>
        <p:spPr>
          <a:xfrm>
            <a:off x="685799" y="2213360"/>
            <a:ext cx="7772399" cy="2860664"/>
          </a:xfrm>
        </p:spPr>
        <p:txBody>
          <a:bodyPr anchor="ctr"/>
          <a:lstStyle/>
          <a:p>
            <a:r>
              <a:rPr lang="en-US" noProof="0" dirty="0"/>
              <a:t>Contact: </a:t>
            </a:r>
          </a:p>
          <a:p>
            <a:r>
              <a:rPr lang="en-US" b="1" dirty="0"/>
              <a:t>inaferna@ing.uc3m.es</a:t>
            </a:r>
            <a:endParaRPr lang="en-US" b="1" noProof="0" dirty="0"/>
          </a:p>
          <a:p>
            <a:endParaRPr lang="en-US" dirty="0"/>
          </a:p>
          <a:p>
            <a:r>
              <a:rPr lang="en-US" dirty="0"/>
              <a:t>Please </a:t>
            </a:r>
            <a:r>
              <a:rPr lang="en-US" b="1" dirty="0"/>
              <a:t>sign the attendance sheet </a:t>
            </a:r>
          </a:p>
          <a:p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do teams of maximum 3</a:t>
            </a:r>
            <a:endParaRPr lang="en-US" noProof="0" dirty="0">
              <a:solidFill>
                <a:srgbClr val="FF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0" y="6421438"/>
            <a:ext cx="3086100" cy="365125"/>
          </a:xfrm>
        </p:spPr>
        <p:txBody>
          <a:bodyPr/>
          <a:lstStyle/>
          <a:p>
            <a:r>
              <a:rPr lang="en-US" noProof="0" dirty="0"/>
              <a:t>UC3M – AERO – EP2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674100" y="6421438"/>
            <a:ext cx="469900" cy="365125"/>
          </a:xfrm>
        </p:spPr>
        <p:txBody>
          <a:bodyPr/>
          <a:lstStyle/>
          <a:p>
            <a:fld id="{6A50E5A4-1032-4786-A9BB-359A429A9129}" type="slidenum">
              <a:rPr lang="en-US" noProof="0" smtClean="0"/>
              <a:pPr/>
              <a:t>33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09439921"/>
      </p:ext>
    </p:extLst>
  </p:cSld>
  <p:clrMapOvr>
    <a:masterClrMapping/>
  </p:clrMapOvr>
</p:sld>
</file>

<file path=ppt/theme/theme1.xml><?xml version="1.0" encoding="utf-8"?>
<a:theme xmlns:a="http://schemas.openxmlformats.org/drawingml/2006/main" name="MASI11_Template_PC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arlosIII_Nadi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6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64" charset="-128"/>
          </a:defRPr>
        </a:defPPr>
      </a:lstStyle>
    </a:lnDef>
  </a:objectDefaults>
  <a:extraClrSchemeLst>
    <a:extraClrScheme>
      <a:clrScheme name="CarlosIII_Nadi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rlosIII_Nadi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rlosIII_Nadi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rlosIII_Nadi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rlosIII_Nadi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rlosIII_Nadi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rlosIII_Nadi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rlosIII_Nadi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rlosIII_Nadi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rlosIII_Nadi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rlosIII_Nadi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rlosIII_Nadi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MASI11_Template_PC</Template>
  <TotalTime>18904</TotalTime>
  <Words>1636</Words>
  <Application>Microsoft Office PowerPoint</Application>
  <PresentationFormat>Presentación en pantalla (4:3)</PresentationFormat>
  <Paragraphs>276</Paragraphs>
  <Slides>33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9" baseType="lpstr">
      <vt:lpstr>Arial</vt:lpstr>
      <vt:lpstr>Calibri</vt:lpstr>
      <vt:lpstr>Cambria Math</vt:lpstr>
      <vt:lpstr>Tahoma</vt:lpstr>
      <vt:lpstr>Wingdings</vt:lpstr>
      <vt:lpstr>MASI11_Template_PC</vt:lpstr>
      <vt:lpstr>Lab Session 1</vt:lpstr>
      <vt:lpstr>Objectives</vt:lpstr>
      <vt:lpstr>Objectives</vt:lpstr>
      <vt:lpstr>Report writing</vt:lpstr>
      <vt:lpstr>Report writing</vt:lpstr>
      <vt:lpstr>Report writing : Structure</vt:lpstr>
      <vt:lpstr>Report writing : Structure</vt:lpstr>
      <vt:lpstr>How to present your results ?</vt:lpstr>
      <vt:lpstr>How to present your results ?</vt:lpstr>
      <vt:lpstr>How to present your results ?</vt:lpstr>
      <vt:lpstr>How to present your results ?</vt:lpstr>
      <vt:lpstr>How to present your results ?</vt:lpstr>
      <vt:lpstr>Report writing : Structure</vt:lpstr>
      <vt:lpstr>Report writing : Structure</vt:lpstr>
      <vt:lpstr>Report writing : General remarks</vt:lpstr>
      <vt:lpstr>Report writing : General remarks</vt:lpstr>
      <vt:lpstr>Report writing : General remarks</vt:lpstr>
      <vt:lpstr>Objectives</vt:lpstr>
      <vt:lpstr>Basics</vt:lpstr>
      <vt:lpstr>Example 1: Harmonic Oscillator</vt:lpstr>
      <vt:lpstr>Example 1: Harmonic Oscillator</vt:lpstr>
      <vt:lpstr>Exercise 1: Harmonic Oscillator</vt:lpstr>
      <vt:lpstr>Exercise 1: Harmonic Oscillator</vt:lpstr>
      <vt:lpstr>Exercise 1: Harmonic Oscillator</vt:lpstr>
      <vt:lpstr>Exercise 1: Harmonic Oscillator</vt:lpstr>
      <vt:lpstr>Exercise 1: Harmonic Oscillator</vt:lpstr>
      <vt:lpstr>Exercise 1: Harmonic Oscillator</vt:lpstr>
      <vt:lpstr>Exercise 2: Parabolic trajectory</vt:lpstr>
      <vt:lpstr>Exercise 2: Parabolic trajectory</vt:lpstr>
      <vt:lpstr>Exercise 2: Parabolic trajectory</vt:lpstr>
      <vt:lpstr>Exercise 2: Parabolic trajectory</vt:lpstr>
      <vt:lpstr>Exercise 2: Parabolic trajectory</vt:lpstr>
      <vt:lpstr>Thank you!</vt:lpstr>
    </vt:vector>
  </TitlesOfParts>
  <Company>EADS-CASA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c81153</dc:creator>
  <cp:lastModifiedBy>IÑAKI FERNANDEZ TENA</cp:lastModifiedBy>
  <cp:revision>1163</cp:revision>
  <cp:lastPrinted>2015-02-16T06:52:51Z</cp:lastPrinted>
  <dcterms:created xsi:type="dcterms:W3CDTF">2012-08-06T08:14:49Z</dcterms:created>
  <dcterms:modified xsi:type="dcterms:W3CDTF">2026-09-09T13:58:19Z</dcterms:modified>
</cp:coreProperties>
</file>